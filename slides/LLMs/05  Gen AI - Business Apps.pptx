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1318" r:id="rId3"/>
    <p:sldId id="426" r:id="rId4"/>
    <p:sldId id="427" r:id="rId5"/>
    <p:sldId id="431" r:id="rId6"/>
    <p:sldId id="1319" r:id="rId7"/>
    <p:sldId id="435" r:id="rId8"/>
    <p:sldId id="429" r:id="rId9"/>
    <p:sldId id="430" r:id="rId10"/>
    <p:sldId id="436" r:id="rId11"/>
    <p:sldId id="437" r:id="rId12"/>
    <p:sldId id="438" r:id="rId13"/>
    <p:sldId id="1317" r:id="rId14"/>
    <p:sldId id="131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1580" y="191135"/>
            <a:ext cx="10151110" cy="1143000"/>
          </a:xfrm>
        </p:spPr>
        <p:txBody>
          <a:bodyPr/>
          <a:lstStyle/>
          <a:p>
            <a:r>
              <a:rPr lang="en-US">
                <a:sym typeface="+mn-ea"/>
              </a:rPr>
              <a:t>Generative AI and Business</a:t>
            </a:r>
            <a:endParaRPr lang="en-US" altLang="en-US" dirty="0"/>
          </a:p>
        </p:txBody>
      </p:sp>
      <p:pic>
        <p:nvPicPr>
          <p:cNvPr id="118" name="Picture 117"/>
          <p:cNvPicPr/>
          <p:nvPr/>
        </p:nvPicPr>
        <p:blipFill>
          <a:blip r:embed="rId2"/>
          <a:stretch>
            <a:fillRect/>
          </a:stretch>
        </p:blipFill>
        <p:spPr>
          <a:xfrm>
            <a:off x="1456055" y="2082800"/>
            <a:ext cx="4503420" cy="47752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9" name="Picture 118"/>
          <p:cNvPicPr/>
          <p:nvPr/>
        </p:nvPicPr>
        <p:blipFill>
          <a:blip r:embed="rId3"/>
          <a:stretch>
            <a:fillRect/>
          </a:stretch>
        </p:blipFill>
        <p:spPr>
          <a:xfrm>
            <a:off x="5959475" y="2082165"/>
            <a:ext cx="4935855" cy="477583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585D3-E336-B47A-F4E1-CBB91DCCE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explore the potential of Gen AI for business / jobs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41B2B-5DF5-81EE-ECD0-65E21A8B72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all tasks associated with a job </a:t>
            </a:r>
          </a:p>
          <a:p>
            <a:r>
              <a:rPr lang="en-US" dirty="0"/>
              <a:t>For each task determine the potential of Gen AI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4475B-6B25-890E-DDA8-030BB3F2F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395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9057" y="1903445"/>
            <a:ext cx="2862943" cy="1110343"/>
          </a:xfrm>
        </p:spPr>
        <p:txBody>
          <a:bodyPr>
            <a:normAutofit fontScale="90000"/>
          </a:bodyPr>
          <a:lstStyle/>
          <a:p>
            <a:r>
              <a:rPr lang="en-US" dirty="0"/>
              <a:t>Computer programmer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FFF6C8C-C169-5FFB-48B1-9172A948EF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1245076"/>
              </p:ext>
            </p:extLst>
          </p:nvPr>
        </p:nvGraphicFramePr>
        <p:xfrm>
          <a:off x="121297" y="92223"/>
          <a:ext cx="8929396" cy="6629243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7171388">
                  <a:extLst>
                    <a:ext uri="{9D8B030D-6E8A-4147-A177-3AD203B41FA5}">
                      <a16:colId xmlns:a16="http://schemas.microsoft.com/office/drawing/2014/main" val="103029661"/>
                    </a:ext>
                  </a:extLst>
                </a:gridCol>
                <a:gridCol w="1758008">
                  <a:extLst>
                    <a:ext uri="{9D8B030D-6E8A-4147-A177-3AD203B41FA5}">
                      <a16:colId xmlns:a16="http://schemas.microsoft.com/office/drawing/2014/main" val="3347798147"/>
                    </a:ext>
                  </a:extLst>
                </a:gridCol>
              </a:tblGrid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Task</a:t>
                      </a:r>
                      <a:endParaRPr lang="en-US" sz="160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GenAI Potential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598157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Code generation (from natural language prompts)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6843459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Code completion and autocompletion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3585419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Code documentation generation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7695696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Bug detection and fixing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1238682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Code refactoring and optimization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5271645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Unit test generation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4419965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Integration testing and system testing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8509828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API design and schema generation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404966"/>
                  </a:ext>
                </a:extLst>
              </a:tr>
              <a:tr h="360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Writing configuration or deployment scripts (e.g., Docker, CI/CD)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0434178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Legacy code understanding and migration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0332571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Algorithm design and complexity optimization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5092229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Security auditing and vulnerability detection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3830765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Debugging complex runtime issues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8684475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Code review and style checking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1922439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Software architecture design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7038963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Requirement analysis and system specification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668576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Learning and teaching programming concepts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4535912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Generating technical documentation or READMEs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3356276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Data structure selection and performance tuning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98424"/>
                  </a:ext>
                </a:extLst>
              </a:tr>
              <a:tr h="313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Cross-</a:t>
                      </a:r>
                      <a:r>
                        <a:rPr lang="fr-FR" sz="1600" dirty="0" err="1"/>
                        <a:t>language</a:t>
                      </a:r>
                      <a:r>
                        <a:rPr lang="fr-FR" sz="1600" dirty="0"/>
                        <a:t> code translation (e.g., Python → Java)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High</a:t>
                      </a:r>
                      <a:endParaRPr lang="en-US" sz="160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407129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6421" y="2103437"/>
            <a:ext cx="1780592" cy="1325563"/>
          </a:xfrm>
        </p:spPr>
        <p:txBody>
          <a:bodyPr/>
          <a:lstStyle/>
          <a:p>
            <a:r>
              <a:rPr lang="en-US" dirty="0"/>
              <a:t>Lawyer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3CD4202-FED4-A62B-D4DB-36DF4169FE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759539"/>
              </p:ext>
            </p:extLst>
          </p:nvPr>
        </p:nvGraphicFramePr>
        <p:xfrm>
          <a:off x="430262" y="176199"/>
          <a:ext cx="7612726" cy="6545275"/>
        </p:xfrm>
        <a:graphic>
          <a:graphicData uri="http://schemas.openxmlformats.org/drawingml/2006/table">
            <a:tbl>
              <a:tblPr/>
              <a:tblGrid>
                <a:gridCol w="5811918">
                  <a:extLst>
                    <a:ext uri="{9D8B030D-6E8A-4147-A177-3AD203B41FA5}">
                      <a16:colId xmlns:a16="http://schemas.microsoft.com/office/drawing/2014/main" val="2767109247"/>
                    </a:ext>
                  </a:extLst>
                </a:gridCol>
                <a:gridCol w="1800808">
                  <a:extLst>
                    <a:ext uri="{9D8B030D-6E8A-4147-A177-3AD203B41FA5}">
                      <a16:colId xmlns:a16="http://schemas.microsoft.com/office/drawing/2014/main" val="494326317"/>
                    </a:ext>
                  </a:extLst>
                </a:gridCol>
              </a:tblGrid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Task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GenAI Potential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21126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Drafting contracts and legal documents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12123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Reviewing and summarizing contracts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783948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Legal research and case law retrieval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9912644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Generating legal memos or briefs (first draft)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2538617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Due diligence document review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589061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Compliance checking and monitoring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718409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Risk assessment and legal opinion formation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0817103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Negotiation strategy and client counseling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1763793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Predicting case outcomes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3530447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Discovery and e-discovery document analysis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476573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Legal translation and multilingual document review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905970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Drafting court pleadings and motions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307982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Statutory interpretation and complex legal reasoning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216929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Contract clause comparison and version tracking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695723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Summarizing legislation or regulatory updates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30369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Intellectual property search and filing assistance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2980713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Drafting privacy policies and terms of service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High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5245122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Ethical and professional judgment decisions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2115304"/>
                  </a:ext>
                </a:extLst>
              </a:tr>
              <a:tr h="300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Client communication and correspondence drafting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1306750"/>
                  </a:ext>
                </a:extLst>
              </a:tr>
              <a:tr h="5274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Internal knowledge management (precedents, templates)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High</a:t>
                      </a:r>
                      <a:endParaRPr lang="en-US" sz="160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960788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2404" y="1148896"/>
            <a:ext cx="2743200" cy="4057585"/>
          </a:xfrm>
        </p:spPr>
        <p:txBody>
          <a:bodyPr>
            <a:normAutofit/>
          </a:bodyPr>
          <a:lstStyle/>
          <a:p>
            <a:r>
              <a:rPr lang="en-US" dirty="0"/>
              <a:t>Helping customers build websites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314BBBF-610A-AA03-271E-9E1117AA24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00736"/>
              </p:ext>
            </p:extLst>
          </p:nvPr>
        </p:nvGraphicFramePr>
        <p:xfrm>
          <a:off x="411159" y="1489725"/>
          <a:ext cx="7925018" cy="4065038"/>
        </p:xfrm>
        <a:graphic>
          <a:graphicData uri="http://schemas.openxmlformats.org/drawingml/2006/table">
            <a:tbl>
              <a:tblPr/>
              <a:tblGrid>
                <a:gridCol w="6493494">
                  <a:extLst>
                    <a:ext uri="{9D8B030D-6E8A-4147-A177-3AD203B41FA5}">
                      <a16:colId xmlns:a16="http://schemas.microsoft.com/office/drawing/2014/main" val="991021366"/>
                    </a:ext>
                  </a:extLst>
                </a:gridCol>
                <a:gridCol w="1431524">
                  <a:extLst>
                    <a:ext uri="{9D8B030D-6E8A-4147-A177-3AD203B41FA5}">
                      <a16:colId xmlns:a16="http://schemas.microsoft.com/office/drawing/2014/main" val="1238230856"/>
                    </a:ext>
                  </a:extLst>
                </a:gridCol>
              </a:tblGrid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Task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GenAI Potential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661032"/>
                  </a:ext>
                </a:extLst>
              </a:tr>
              <a:tr h="475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Website design (layout, color scheme, theme generation)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6109"/>
                  </a:ext>
                </a:extLst>
              </a:tr>
              <a:tr h="475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Generating website content (text, images, copywriting)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453578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Title generation for a given content or article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507376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Creating logos and brand identity elements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High</a:t>
                      </a:r>
                      <a:endParaRPr lang="en-US" sz="2000" dirty="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222902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Writing HTML, CSS, and JavaScript code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3419470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Building website structure and navigation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71196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SEO optimization (keywords, meta descriptions)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High</a:t>
                      </a:r>
                      <a:endParaRPr lang="en-US" sz="20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5207184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Creating marketing materials and landing pages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High</a:t>
                      </a:r>
                      <a:endParaRPr lang="en-US" sz="2000" dirty="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3619408"/>
                  </a:ext>
                </a:extLst>
              </a:tr>
              <a:tr h="27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Multilingual website generation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High</a:t>
                      </a:r>
                      <a:endParaRPr lang="en-US" sz="2000" dirty="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276809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A506-8D2B-7723-0114-C37D362BC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073" y="2632464"/>
            <a:ext cx="3124200" cy="1325563"/>
          </a:xfrm>
        </p:spPr>
        <p:txBody>
          <a:bodyPr/>
          <a:lstStyle/>
          <a:p>
            <a:r>
              <a:rPr lang="en-US" dirty="0"/>
              <a:t>Landscraper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F28E-BB52-375B-0079-D44FE48E5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8764D5E-C1DF-6B3B-C6BD-8F4AEA59A9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064733"/>
              </p:ext>
            </p:extLst>
          </p:nvPr>
        </p:nvGraphicFramePr>
        <p:xfrm>
          <a:off x="581127" y="301624"/>
          <a:ext cx="8310946" cy="6343016"/>
        </p:xfrm>
        <a:graphic>
          <a:graphicData uri="http://schemas.openxmlformats.org/drawingml/2006/table">
            <a:tbl>
              <a:tblPr/>
              <a:tblGrid>
                <a:gridCol w="6846040">
                  <a:extLst>
                    <a:ext uri="{9D8B030D-6E8A-4147-A177-3AD203B41FA5}">
                      <a16:colId xmlns:a16="http://schemas.microsoft.com/office/drawing/2014/main" val="1732465616"/>
                    </a:ext>
                  </a:extLst>
                </a:gridCol>
                <a:gridCol w="1464906">
                  <a:extLst>
                    <a:ext uri="{9D8B030D-6E8A-4147-A177-3AD203B41FA5}">
                      <a16:colId xmlns:a16="http://schemas.microsoft.com/office/drawing/2014/main" val="3722487901"/>
                    </a:ext>
                  </a:extLst>
                </a:gridCol>
              </a:tblGrid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Task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GenAI Potential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850029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Planting flowers, trees, and shrubs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3175372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Watering and irrigation management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533773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Pruning, trimming, and shaping plants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738720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Mowing lawns and turf maintenance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968979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Fertilizing and soil treatment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0843283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Pest and disease treatment (manual application)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0289647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Harvesting or seasonal plant care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0466224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Transporting and buying plants/materials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8967877"/>
                  </a:ext>
                </a:extLst>
              </a:tr>
              <a:tr h="6343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Operating landscaping machinery (e.g., lawnmowers, excavators)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177421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Installing hardscape features (paths, patios, fences)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526288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Mulching, composting, and garden bed preparation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515514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Seasonal cleanup (leaves, debris)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Low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584"/>
                  </a:ext>
                </a:extLst>
              </a:tr>
              <a:tr h="6343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Monitoring plant health using AI-assisted image analysis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2946980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Planning irrigation and fertilization schedules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Medium</a:t>
                      </a:r>
                      <a:endParaRPr lang="en-US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1764712"/>
                  </a:ext>
                </a:extLst>
              </a:tr>
              <a:tr h="362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Sourcing plants and materials online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Medium</a:t>
                      </a:r>
                      <a:endParaRPr lang="en-US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5214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144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New workflows and new Opportunities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Surgeon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80615"/>
            <a:ext cx="10515600" cy="3241040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Legal documentation review	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5675" y="1825625"/>
            <a:ext cx="10279380" cy="435165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Marketing automation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9640" y="1825625"/>
            <a:ext cx="10332085" cy="435165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ym typeface="+mn-ea"/>
              </a:rPr>
              <a:t>Wordpress AI Assitant </a:t>
            </a:r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2255" y="1825625"/>
            <a:ext cx="9126220" cy="435165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Wordpress AI Assitant 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25790" y="206375"/>
            <a:ext cx="3128010" cy="6445250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GB"/>
              <a:t>Contents creation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5000" lnSpcReduction="10000"/>
          </a:bodyPr>
          <a:lstStyle/>
          <a:p>
            <a:r>
              <a:rPr lang="zh-CN" altLang="en-US"/>
              <a:t>🌐</a:t>
            </a:r>
            <a:r>
              <a:rPr lang="en-US" altLang="en-GB"/>
              <a:t> Web 1.0 (1990s) </a:t>
            </a:r>
            <a:r>
              <a:rPr lang="zh-CN" altLang="en-US"/>
              <a:t>🌐</a:t>
            </a:r>
            <a:r>
              <a:rPr lang="en-US" altLang="en-GB"/>
              <a:t> </a:t>
            </a:r>
            <a:r>
              <a:rPr lang="en-US" altLang="en-US"/>
              <a:t>➡</a:t>
            </a:r>
            <a:r>
              <a:rPr lang="" altLang="en-US"/>
              <a:t>️</a:t>
            </a:r>
            <a:r>
              <a:rPr lang="en-US" altLang="en-GB"/>
              <a:t> Static pages, one-way streets for information.</a:t>
            </a:r>
          </a:p>
          <a:p>
            <a:endParaRPr lang="en-US" altLang="en-GB"/>
          </a:p>
          <a:p>
            <a:r>
              <a:rPr lang="zh-CN" altLang="en-US"/>
              <a:t>📸</a:t>
            </a:r>
            <a:r>
              <a:rPr lang="en-US" altLang="en-GB"/>
              <a:t> Web 2.0 (Early 2000s) </a:t>
            </a:r>
            <a:r>
              <a:rPr lang="zh-CN" altLang="en-US"/>
              <a:t>📸</a:t>
            </a:r>
            <a:r>
              <a:rPr lang="en-US" altLang="en-GB"/>
              <a:t> </a:t>
            </a:r>
            <a:r>
              <a:rPr lang="en-US" altLang="en-US"/>
              <a:t>➡</a:t>
            </a:r>
            <a:r>
              <a:rPr lang="" altLang="en-US"/>
              <a:t>️</a:t>
            </a:r>
            <a:r>
              <a:rPr lang="en-US" altLang="en-GB"/>
              <a:t> User-generated content via blogs and forums.</a:t>
            </a:r>
          </a:p>
          <a:p>
            <a:endParaRPr lang="en-US" altLang="en-GB"/>
          </a:p>
          <a:p>
            <a:r>
              <a:rPr lang="zh-CN" altLang="en-US"/>
              <a:t>📱</a:t>
            </a:r>
            <a:r>
              <a:rPr lang="en-US" altLang="en-GB"/>
              <a:t> The Rise of Social Media (Mid-2000s) </a:t>
            </a:r>
            <a:r>
              <a:rPr lang="zh-CN" altLang="en-US"/>
              <a:t>📱</a:t>
            </a:r>
            <a:r>
              <a:rPr lang="en-US" altLang="en-GB"/>
              <a:t> </a:t>
            </a:r>
            <a:r>
              <a:rPr lang="en-US" altLang="en-US"/>
              <a:t>➡</a:t>
            </a:r>
            <a:r>
              <a:rPr lang="" altLang="en-US"/>
              <a:t>️</a:t>
            </a:r>
            <a:r>
              <a:rPr lang="en-US" altLang="en-GB"/>
              <a:t> Content creation exploded, share &amp; influence, "Viral" became a buzzword.</a:t>
            </a:r>
          </a:p>
          <a:p>
            <a:endParaRPr lang="en-US" altLang="en-GB"/>
          </a:p>
          <a:p>
            <a:r>
              <a:rPr lang="zh-CN" altLang="en-US"/>
              <a:t>📱</a:t>
            </a:r>
            <a:r>
              <a:rPr lang="en-US" altLang="en-GB"/>
              <a:t> Mobile Era (2010s) </a:t>
            </a:r>
            <a:r>
              <a:rPr lang="zh-CN" altLang="en-US"/>
              <a:t>📱</a:t>
            </a:r>
            <a:r>
              <a:rPr lang="en-US" altLang="en-GB"/>
              <a:t> </a:t>
            </a:r>
            <a:r>
              <a:rPr lang="en-US" altLang="en-US"/>
              <a:t>➡</a:t>
            </a:r>
            <a:r>
              <a:rPr lang="" altLang="en-US"/>
              <a:t>️</a:t>
            </a:r>
            <a:r>
              <a:rPr lang="en-US" altLang="en-GB"/>
              <a:t> Content consumption habits changed, visual storytelling, short content.</a:t>
            </a:r>
          </a:p>
          <a:p>
            <a:endParaRPr lang="en-US" altLang="en-GB"/>
          </a:p>
          <a:p>
            <a:r>
              <a:rPr lang="zh-CN" altLang="en-US"/>
              <a:t>🤖</a:t>
            </a:r>
            <a:r>
              <a:rPr lang="en-US" altLang="en-GB"/>
              <a:t> AI and Automation (Present) </a:t>
            </a:r>
            <a:r>
              <a:rPr lang="zh-CN" altLang="en-US"/>
              <a:t>🤖</a:t>
            </a:r>
            <a:r>
              <a:rPr lang="en-US" altLang="en-GB"/>
              <a:t> </a:t>
            </a:r>
            <a:r>
              <a:rPr lang="en-US" altLang="en-US"/>
              <a:t>➡</a:t>
            </a:r>
            <a:r>
              <a:rPr lang="" altLang="en-US"/>
              <a:t>️</a:t>
            </a:r>
            <a:r>
              <a:rPr lang="en-US" altLang="en-GB"/>
              <a:t> Today's helpers. Today, AI assists content creators with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Q&amp;A</a:t>
            </a:r>
          </a:p>
        </p:txBody>
      </p:sp>
      <p:pic>
        <p:nvPicPr>
          <p:cNvPr id="120" name="Picture 119"/>
          <p:cNvPicPr/>
          <p:nvPr/>
        </p:nvPicPr>
        <p:blipFill>
          <a:blip r:embed="rId2"/>
          <a:stretch>
            <a:fillRect/>
          </a:stretch>
        </p:blipFill>
        <p:spPr>
          <a:xfrm>
            <a:off x="3786505" y="741045"/>
            <a:ext cx="5170170" cy="258000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1" name="Picture 120"/>
          <p:cNvPicPr/>
          <p:nvPr/>
        </p:nvPicPr>
        <p:blipFill>
          <a:blip r:embed="rId3"/>
          <a:stretch>
            <a:fillRect/>
          </a:stretch>
        </p:blipFill>
        <p:spPr>
          <a:xfrm>
            <a:off x="2470150" y="3375660"/>
            <a:ext cx="7802880" cy="2926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651</Words>
  <Application>Microsoft Office PowerPoint</Application>
  <PresentationFormat>Widescreen</PresentationFormat>
  <Paragraphs>173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Generative AI and Business</vt:lpstr>
      <vt:lpstr>How to explore the potential of Gen AI for business / jobs </vt:lpstr>
      <vt:lpstr>Computer programmer</vt:lpstr>
      <vt:lpstr>Lawyer</vt:lpstr>
      <vt:lpstr>Helping customers build websites</vt:lpstr>
      <vt:lpstr>Landscraper </vt:lpstr>
      <vt:lpstr>New workflows and new Opportunities</vt:lpstr>
      <vt:lpstr>Example 1: Surgeon</vt:lpstr>
      <vt:lpstr>Example 2: Legal documentation review </vt:lpstr>
      <vt:lpstr>Example 3: Marketing automation</vt:lpstr>
      <vt:lpstr>Wordpress AI Assitant </vt:lpstr>
      <vt:lpstr>Wordpress AI Assitant </vt:lpstr>
      <vt:lpstr>Contents creation timeline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Motaz K H SAAD</cp:lastModifiedBy>
  <cp:revision>308</cp:revision>
  <dcterms:created xsi:type="dcterms:W3CDTF">2024-07-10T06:40:00Z</dcterms:created>
  <dcterms:modified xsi:type="dcterms:W3CDTF">2025-11-08T09:05:49Z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87267F72C437478BB406411E457C4B18_13</vt:lpwstr>
  </property>
  <property fmtid="{D5CDD505-2E9C-101B-9397-08002B2CF9AE}" pid="3" name="KSOProductBuildVer">
    <vt:lpwstr>2057-12.2.0.19821</vt:lpwstr>
  </property>
</Properties>
</file>