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7"/>
  </p:notesMasterIdLst>
  <p:handoutMasterIdLst>
    <p:handoutMasterId r:id="rId28"/>
  </p:handoutMasterIdLst>
  <p:sldIdLst>
    <p:sldId id="256" r:id="rId2"/>
    <p:sldId id="1311" r:id="rId3"/>
    <p:sldId id="1325" r:id="rId4"/>
    <p:sldId id="360" r:id="rId5"/>
    <p:sldId id="364" r:id="rId6"/>
    <p:sldId id="365" r:id="rId7"/>
    <p:sldId id="362" r:id="rId8"/>
    <p:sldId id="367" r:id="rId9"/>
    <p:sldId id="363" r:id="rId10"/>
    <p:sldId id="390" r:id="rId11"/>
    <p:sldId id="370" r:id="rId12"/>
    <p:sldId id="372" r:id="rId13"/>
    <p:sldId id="374" r:id="rId14"/>
    <p:sldId id="397" r:id="rId15"/>
    <p:sldId id="1327" r:id="rId16"/>
    <p:sldId id="1316" r:id="rId17"/>
    <p:sldId id="1326" r:id="rId18"/>
    <p:sldId id="1328" r:id="rId19"/>
    <p:sldId id="1329" r:id="rId20"/>
    <p:sldId id="1330" r:id="rId21"/>
    <p:sldId id="1331" r:id="rId22"/>
    <p:sldId id="1317" r:id="rId23"/>
    <p:sldId id="1332" r:id="rId24"/>
    <p:sldId id="1324" r:id="rId25"/>
    <p:sldId id="1315"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1" autoAdjust="0"/>
    <p:restoredTop sz="94660"/>
  </p:normalViewPr>
  <p:slideViewPr>
    <p:cSldViewPr snapToGrid="0">
      <p:cViewPr varScale="1">
        <p:scale>
          <a:sx n="82" d="100"/>
          <a:sy n="82" d="100"/>
        </p:scale>
        <p:origin x="67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t>11/8/2025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11/8/2025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dirt-dumping problem is an example of the King Midas problem – mis-specifying the objective</a:t>
            </a:r>
          </a:p>
        </p:txBody>
      </p:sp>
      <p:sp>
        <p:nvSpPr>
          <p:cNvPr id="4" name="Slide Number Placeholder 3"/>
          <p:cNvSpPr>
            <a:spLocks noGrp="1"/>
          </p:cNvSpPr>
          <p:nvPr>
            <p:ph type="sldNum" sz="quarter" idx="10"/>
          </p:nvPr>
        </p:nvSpPr>
        <p:spPr/>
        <p:txBody>
          <a:bodyPr/>
          <a:lstStyle/>
          <a:p>
            <a:pPr>
              <a:defRPr/>
            </a:pPr>
            <a:fld id="{951F94F5-58D1-42ED-AB38-DD97D2E49478}" type="slidenum">
              <a:rPr lang="en-US" smtClean="0"/>
              <a:t>9</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51F94F5-58D1-42ED-AB38-DD97D2E49478}" type="slidenum">
              <a:rPr lang="en-US" smtClean="0"/>
              <a:t>10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11/8/2025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11/8/2025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11/8/2025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11/8/2025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11580" y="191135"/>
            <a:ext cx="10151110" cy="1143000"/>
          </a:xfrm>
        </p:spPr>
        <p:txBody>
          <a:bodyPr/>
          <a:lstStyle/>
          <a:p>
            <a:r>
              <a:rPr lang="en-US" dirty="0">
                <a:sym typeface="+mn-ea"/>
              </a:rPr>
              <a:t>Agentic AI</a:t>
            </a:r>
            <a:endParaRPr lang="en-US" altLang="en-US" dirty="0"/>
          </a:p>
        </p:txBody>
      </p:sp>
      <p:pic>
        <p:nvPicPr>
          <p:cNvPr id="118" name="Picture 117"/>
          <p:cNvPicPr/>
          <p:nvPr/>
        </p:nvPicPr>
        <p:blipFill>
          <a:blip r:embed="rId2"/>
          <a:stretch>
            <a:fillRect/>
          </a:stretch>
        </p:blipFill>
        <p:spPr>
          <a:xfrm>
            <a:off x="1456055" y="2082800"/>
            <a:ext cx="4503420" cy="4775200"/>
          </a:xfrm>
          <a:prstGeom prst="rect">
            <a:avLst/>
          </a:prstGeom>
          <a:noFill/>
          <a:ln w="9525">
            <a:noFill/>
          </a:ln>
        </p:spPr>
      </p:pic>
      <p:pic>
        <p:nvPicPr>
          <p:cNvPr id="119" name="Picture 118"/>
          <p:cNvPicPr/>
          <p:nvPr/>
        </p:nvPicPr>
        <p:blipFill>
          <a:blip r:embed="rId3"/>
          <a:stretch>
            <a:fillRect/>
          </a:stretch>
        </p:blipFill>
        <p:spPr>
          <a:xfrm>
            <a:off x="5959475" y="2082165"/>
            <a:ext cx="4935855" cy="4775835"/>
          </a:xfrm>
          <a:prstGeom prst="rect">
            <a:avLst/>
          </a:prstGeom>
          <a:noFill/>
          <a:ln w="9525">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AI Agent</a:t>
            </a:r>
          </a:p>
        </p:txBody>
      </p:sp>
      <p:sp>
        <p:nvSpPr>
          <p:cNvPr id="4" name="Slide Number Placeholder 3"/>
          <p:cNvSpPr>
            <a:spLocks noGrp="1"/>
          </p:cNvSpPr>
          <p:nvPr>
            <p:ph type="sldNum" sz="quarter" idx="12"/>
          </p:nvPr>
        </p:nvSpPr>
        <p:spPr/>
        <p:txBody>
          <a:bodyPr/>
          <a:lstStyle/>
          <a:p>
            <a:fld id="{9B618960-8005-486C-9A75-10CB2AAC16F9}" type="slidenum">
              <a:rPr lang="en-US" smtClean="0"/>
              <a:t>2</a:t>
            </a:fld>
            <a:endParaRPr lang="en-US"/>
          </a:p>
        </p:txBody>
      </p:sp>
      <p:pic>
        <p:nvPicPr>
          <p:cNvPr id="8194" name="Picture 2" descr="Three Things to Know About Reinforcement Learning - KDnugge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39041" y="2144021"/>
            <a:ext cx="6913263" cy="34757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E6A13-B97C-654C-3EEE-FD38CC5E2E82}"/>
              </a:ext>
            </a:extLst>
          </p:cNvPr>
          <p:cNvSpPr>
            <a:spLocks noGrp="1"/>
          </p:cNvSpPr>
          <p:nvPr>
            <p:ph type="title"/>
          </p:nvPr>
        </p:nvSpPr>
        <p:spPr/>
        <p:txBody>
          <a:bodyPr/>
          <a:lstStyle/>
          <a:p>
            <a:r>
              <a:rPr lang="en-US" dirty="0"/>
              <a:t>Agents and environments</a:t>
            </a:r>
            <a:br>
              <a:rPr lang="en-US" dirty="0"/>
            </a:br>
            <a:endParaRPr lang="en-US" dirty="0"/>
          </a:p>
        </p:txBody>
      </p:sp>
      <p:sp>
        <p:nvSpPr>
          <p:cNvPr id="4" name="Slide Number Placeholder 3">
            <a:extLst>
              <a:ext uri="{FF2B5EF4-FFF2-40B4-BE49-F238E27FC236}">
                <a16:creationId xmlns:a16="http://schemas.microsoft.com/office/drawing/2014/main" id="{4CD65AF0-AADE-F57A-4335-61C6555063E4}"/>
              </a:ext>
            </a:extLst>
          </p:cNvPr>
          <p:cNvSpPr>
            <a:spLocks noGrp="1"/>
          </p:cNvSpPr>
          <p:nvPr>
            <p:ph type="sldNum" sz="quarter" idx="12"/>
          </p:nvPr>
        </p:nvSpPr>
        <p:spPr/>
        <p:txBody>
          <a:bodyPr/>
          <a:lstStyle/>
          <a:p>
            <a:fld id="{9B618960-8005-486C-9A75-10CB2AAC16F9}" type="slidenum">
              <a:rPr lang="en-US" smtClean="0"/>
              <a:t>3</a:t>
            </a:fld>
            <a:endParaRPr lang="en-US"/>
          </a:p>
        </p:txBody>
      </p:sp>
      <p:sp>
        <p:nvSpPr>
          <p:cNvPr id="5" name="Rectangle 4">
            <a:extLst>
              <a:ext uri="{FF2B5EF4-FFF2-40B4-BE49-F238E27FC236}">
                <a16:creationId xmlns:a16="http://schemas.microsoft.com/office/drawing/2014/main" id="{B8C56B5A-15A6-7F4B-CB9F-583BCCC0226C}"/>
              </a:ext>
            </a:extLst>
          </p:cNvPr>
          <p:cNvSpPr>
            <a:spLocks noGrp="1" noChangeArrowheads="1"/>
          </p:cNvSpPr>
          <p:nvPr/>
        </p:nvSpPr>
        <p:spPr bwMode="auto">
          <a:xfrm>
            <a:off x="1524000" y="1638300"/>
            <a:ext cx="9144000" cy="1143000"/>
          </a:xfrm>
          <a:prstGeom prst="rect">
            <a:avLst/>
          </a:prstGeom>
          <a:noFill/>
          <a:ln w="9525">
            <a:noFill/>
            <a:miter lim="800000"/>
          </a:ln>
        </p:spPr>
        <p:txBody>
          <a:bodyPr vert="horz" wrap="square" lIns="68574" tIns="34289" rIns="68574" bIns="34289" numCol="1" anchor="t" anchorCtr="0" compatLnSpc="1"/>
          <a:lstStyle>
            <a:lvl1pPr marL="0" indent="0" algn="ctr" rtl="0" eaLnBrk="0" fontAlgn="base" hangingPunct="0">
              <a:spcBef>
                <a:spcPct val="20000"/>
              </a:spcBef>
              <a:spcAft>
                <a:spcPct val="0"/>
              </a:spcAft>
              <a:buClr>
                <a:schemeClr val="accent2"/>
              </a:buClr>
              <a:buFont typeface="Wingdings" panose="05000000000000000000" pitchFamily="2" charset="2"/>
              <a:buNone/>
              <a:defRPr sz="2400">
                <a:solidFill>
                  <a:schemeClr val="tx1"/>
                </a:solidFill>
                <a:latin typeface="Calibri" panose="020F0502020204030204" pitchFamily="34" charset="0"/>
                <a:ea typeface="+mn-ea"/>
                <a:cs typeface="+mn-cs"/>
              </a:defRPr>
            </a:lvl1pPr>
            <a:lvl2pPr marL="556895" indent="-213995" algn="l" rtl="0" eaLnBrk="0" fontAlgn="base" hangingPunct="0">
              <a:spcBef>
                <a:spcPct val="20000"/>
              </a:spcBef>
              <a:spcAft>
                <a:spcPct val="0"/>
              </a:spcAft>
              <a:buClr>
                <a:schemeClr val="tx1"/>
              </a:buClr>
              <a:buFont typeface="Wingdings" panose="05000000000000000000" pitchFamily="2" charset="2"/>
              <a:buChar char="§"/>
              <a:defRPr sz="2100">
                <a:solidFill>
                  <a:schemeClr val="tx1"/>
                </a:solidFill>
                <a:latin typeface="Calibri" panose="020F0502020204030204" pitchFamily="34" charset="0"/>
              </a:defRPr>
            </a:lvl2pPr>
            <a:lvl3pPr marL="857250" indent="-171450" algn="l" rtl="0" eaLnBrk="0" fontAlgn="base" hangingPunct="0">
              <a:spcBef>
                <a:spcPct val="20000"/>
              </a:spcBef>
              <a:spcAft>
                <a:spcPct val="0"/>
              </a:spcAft>
              <a:buClr>
                <a:schemeClr val="accent2"/>
              </a:buClr>
              <a:buFont typeface="Wingdings" panose="05000000000000000000" pitchFamily="2" charset="2"/>
              <a:buChar char="§"/>
              <a:defRPr sz="1800">
                <a:solidFill>
                  <a:schemeClr val="tx1"/>
                </a:solidFill>
                <a:latin typeface="Calibri" panose="020F0502020204030204" pitchFamily="34" charset="0"/>
              </a:defRPr>
            </a:lvl3pPr>
            <a:lvl4pPr marL="1200150" indent="-171450" algn="l" rtl="0" eaLnBrk="0" fontAlgn="base" hangingPunct="0">
              <a:spcBef>
                <a:spcPct val="20000"/>
              </a:spcBef>
              <a:spcAft>
                <a:spcPct val="0"/>
              </a:spcAft>
              <a:buClr>
                <a:schemeClr val="tx1"/>
              </a:buClr>
              <a:buFont typeface="Wingdings" panose="05000000000000000000" pitchFamily="2" charset="2"/>
              <a:buChar char="§"/>
              <a:defRPr sz="1500">
                <a:solidFill>
                  <a:schemeClr val="tx1"/>
                </a:solidFill>
                <a:latin typeface="Calibri" panose="020F0502020204030204" pitchFamily="34" charset="0"/>
              </a:defRPr>
            </a:lvl4pPr>
            <a:lvl5pPr marL="1543050" indent="-171450" algn="l" rtl="0" eaLnBrk="0" fontAlgn="base" hangingPunct="0">
              <a:spcBef>
                <a:spcPct val="20000"/>
              </a:spcBef>
              <a:spcAft>
                <a:spcPct val="0"/>
              </a:spcAft>
              <a:buClr>
                <a:schemeClr val="accent2"/>
              </a:buClr>
              <a:buFont typeface="Wingdings" panose="05000000000000000000" pitchFamily="2" charset="2"/>
              <a:buChar char="§"/>
              <a:defRPr sz="1500">
                <a:solidFill>
                  <a:schemeClr val="tx1"/>
                </a:solidFill>
                <a:latin typeface="Calibri" panose="020F0502020204030204" pitchFamily="34" charset="0"/>
              </a:defRPr>
            </a:lvl5pPr>
            <a:lvl6pPr marL="1885950" indent="-171450" algn="l" rtl="0" fontAlgn="base">
              <a:spcBef>
                <a:spcPct val="20000"/>
              </a:spcBef>
              <a:spcAft>
                <a:spcPct val="0"/>
              </a:spcAft>
              <a:buClr>
                <a:schemeClr val="accent2"/>
              </a:buClr>
              <a:buFont typeface="Wingdings" panose="05000000000000000000" pitchFamily="2" charset="2"/>
              <a:buChar char="§"/>
              <a:defRPr sz="1500">
                <a:solidFill>
                  <a:schemeClr val="tx1"/>
                </a:solidFill>
                <a:latin typeface="+mn-lt"/>
              </a:defRPr>
            </a:lvl6pPr>
            <a:lvl7pPr marL="2228850" indent="-171450" algn="l" rtl="0" fontAlgn="base">
              <a:spcBef>
                <a:spcPct val="20000"/>
              </a:spcBef>
              <a:spcAft>
                <a:spcPct val="0"/>
              </a:spcAft>
              <a:buClr>
                <a:schemeClr val="accent2"/>
              </a:buClr>
              <a:buFont typeface="Wingdings" panose="05000000000000000000" pitchFamily="2" charset="2"/>
              <a:buChar char="§"/>
              <a:defRPr sz="1500">
                <a:solidFill>
                  <a:schemeClr val="tx1"/>
                </a:solidFill>
                <a:latin typeface="+mn-lt"/>
              </a:defRPr>
            </a:lvl7pPr>
            <a:lvl8pPr marL="2571750" indent="-171450" algn="l" rtl="0" fontAlgn="base">
              <a:spcBef>
                <a:spcPct val="20000"/>
              </a:spcBef>
              <a:spcAft>
                <a:spcPct val="0"/>
              </a:spcAft>
              <a:buClr>
                <a:schemeClr val="accent2"/>
              </a:buClr>
              <a:buFont typeface="Wingdings" panose="05000000000000000000" pitchFamily="2" charset="2"/>
              <a:buChar char="§"/>
              <a:defRPr sz="1500">
                <a:solidFill>
                  <a:schemeClr val="tx1"/>
                </a:solidFill>
                <a:latin typeface="+mn-lt"/>
              </a:defRPr>
            </a:lvl8pPr>
            <a:lvl9pPr marL="2914650" indent="-171450" algn="l" rtl="0" fontAlgn="base">
              <a:spcBef>
                <a:spcPct val="20000"/>
              </a:spcBef>
              <a:spcAft>
                <a:spcPct val="0"/>
              </a:spcAft>
              <a:buClr>
                <a:schemeClr val="accent2"/>
              </a:buClr>
              <a:buFont typeface="Wingdings" panose="05000000000000000000" pitchFamily="2" charset="2"/>
              <a:buChar char="§"/>
              <a:defRPr sz="1500">
                <a:solidFill>
                  <a:schemeClr val="tx1"/>
                </a:solidFill>
                <a:latin typeface="+mn-lt"/>
              </a:defRPr>
            </a:lvl9pPr>
          </a:lstStyle>
          <a:p>
            <a:pPr eaLnBrk="1" hangingPunct="1"/>
            <a:endParaRPr lang="en-US" sz="3200" dirty="0"/>
          </a:p>
        </p:txBody>
      </p:sp>
      <p:pic>
        <p:nvPicPr>
          <p:cNvPr id="6" name="Picture 5">
            <a:extLst>
              <a:ext uri="{FF2B5EF4-FFF2-40B4-BE49-F238E27FC236}">
                <a16:creationId xmlns:a16="http://schemas.microsoft.com/office/drawing/2014/main" id="{5DF87606-6716-AC7C-125E-134DE9607345}"/>
              </a:ext>
            </a:extLst>
          </p:cNvPr>
          <p:cNvPicPr preferRelativeResize="0">
            <a:picLocks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flipH="1">
            <a:off x="4267204" y="2247900"/>
            <a:ext cx="3809999" cy="2971800"/>
          </a:xfrm>
          <a:prstGeom prst="rect">
            <a:avLst/>
          </a:prstGeom>
          <a:noFill/>
        </p:spPr>
      </p:pic>
    </p:spTree>
    <p:extLst>
      <p:ext uri="{BB962C8B-B14F-4D97-AF65-F5344CB8AC3E}">
        <p14:creationId xmlns:p14="http://schemas.microsoft.com/office/powerpoint/2010/main" val="14506559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Agents and environments</a:t>
            </a:r>
          </a:p>
        </p:txBody>
      </p:sp>
      <p:sp>
        <p:nvSpPr>
          <p:cNvPr id="3" name="Content Placeholder 2"/>
          <p:cNvSpPr>
            <a:spLocks noGrp="1"/>
          </p:cNvSpPr>
          <p:nvPr>
            <p:ph idx="1"/>
          </p:nvPr>
        </p:nvSpPr>
        <p:spPr>
          <a:xfrm>
            <a:off x="406400" y="4445003"/>
            <a:ext cx="11785600" cy="1681164"/>
          </a:xfrm>
        </p:spPr>
        <p:txBody>
          <a:bodyPr/>
          <a:lstStyle/>
          <a:p>
            <a:r>
              <a:rPr lang="en-US" dirty="0"/>
              <a:t>An agent </a:t>
            </a:r>
            <a:r>
              <a:rPr lang="en-US" b="1" i="1" dirty="0">
                <a:solidFill>
                  <a:srgbClr val="FF0000"/>
                </a:solidFill>
              </a:rPr>
              <a:t>perceives</a:t>
            </a:r>
            <a:r>
              <a:rPr lang="en-US" dirty="0"/>
              <a:t> its environment through </a:t>
            </a:r>
            <a:r>
              <a:rPr lang="en-US" b="1" i="1" dirty="0">
                <a:solidFill>
                  <a:srgbClr val="0000FF"/>
                </a:solidFill>
              </a:rPr>
              <a:t>sensors</a:t>
            </a:r>
            <a:r>
              <a:rPr lang="en-US" dirty="0"/>
              <a:t> and </a:t>
            </a:r>
            <a:r>
              <a:rPr lang="en-US" b="1" i="1" dirty="0">
                <a:solidFill>
                  <a:srgbClr val="FF0000"/>
                </a:solidFill>
              </a:rPr>
              <a:t>acts</a:t>
            </a:r>
            <a:r>
              <a:rPr lang="en-US" dirty="0"/>
              <a:t> upon it through </a:t>
            </a:r>
            <a:r>
              <a:rPr lang="en-US" b="1" i="1" dirty="0">
                <a:solidFill>
                  <a:srgbClr val="0000FF"/>
                </a:solidFill>
              </a:rPr>
              <a:t>actuators</a:t>
            </a:r>
            <a:r>
              <a:rPr lang="en-US" dirty="0"/>
              <a:t> (or </a:t>
            </a:r>
            <a:r>
              <a:rPr lang="en-US" i="1" dirty="0">
                <a:solidFill>
                  <a:srgbClr val="0000FF"/>
                </a:solidFill>
              </a:rPr>
              <a:t>effectors</a:t>
            </a:r>
            <a:r>
              <a:rPr lang="en-US" dirty="0"/>
              <a:t>, depending on whom you ask)</a:t>
            </a:r>
          </a:p>
        </p:txBody>
      </p:sp>
      <p:grpSp>
        <p:nvGrpSpPr>
          <p:cNvPr id="4" name="Group 3"/>
          <p:cNvGrpSpPr/>
          <p:nvPr/>
        </p:nvGrpSpPr>
        <p:grpSpPr>
          <a:xfrm>
            <a:off x="2946400" y="1803405"/>
            <a:ext cx="6256336" cy="1912937"/>
            <a:chOff x="2209800" y="3194447"/>
            <a:chExt cx="4692252" cy="1434703"/>
          </a:xfrm>
        </p:grpSpPr>
        <p:sp>
          <p:nvSpPr>
            <p:cNvPr id="5" name="AutoShape 7"/>
            <p:cNvSpPr/>
            <p:nvPr/>
          </p:nvSpPr>
          <p:spPr bwMode="auto">
            <a:xfrm>
              <a:off x="2209800" y="3200398"/>
              <a:ext cx="2155031" cy="1309688"/>
            </a:xfrm>
            <a:prstGeom prst="roundRect">
              <a:avLst>
                <a:gd name="adj" fmla="val 10912"/>
              </a:avLst>
            </a:prstGeom>
            <a:solidFill>
              <a:srgbClr val="9FB0D1"/>
            </a:solidFill>
            <a:ln w="12700">
              <a:solidFill>
                <a:schemeClr val="tx1"/>
              </a:solidFill>
              <a:round/>
            </a:ln>
          </p:spPr>
          <p:txBody>
            <a:bodyPr lIns="0" tIns="0" rIns="0" bIns="0"/>
            <a:lstStyle/>
            <a:p>
              <a:endParaRPr lang="en-US" sz="2400">
                <a:latin typeface="Calibri" panose="020F0502020204030204" pitchFamily="34" charset="0"/>
              </a:endParaRPr>
            </a:p>
          </p:txBody>
        </p:sp>
        <p:sp>
          <p:nvSpPr>
            <p:cNvPr id="6" name="Line 8"/>
            <p:cNvSpPr>
              <a:spLocks noChangeShapeType="1"/>
            </p:cNvSpPr>
            <p:nvPr/>
          </p:nvSpPr>
          <p:spPr bwMode="auto">
            <a:xfrm rot="10800000" flipH="1">
              <a:off x="3325414" y="3672670"/>
              <a:ext cx="0" cy="531019"/>
            </a:xfrm>
            <a:prstGeom prst="line">
              <a:avLst/>
            </a:prstGeom>
            <a:noFill/>
            <a:ln w="25400">
              <a:solidFill>
                <a:schemeClr val="tx1"/>
              </a:solidFill>
              <a:round/>
              <a:headEnd type="stealth" w="med" len="med"/>
            </a:ln>
          </p:spPr>
          <p:txBody>
            <a:bodyPr lIns="91439" tIns="45719" rIns="91439" bIns="45719"/>
            <a:lstStyle/>
            <a:p>
              <a:endParaRPr lang="en-US" sz="2400">
                <a:latin typeface="Calibri" panose="020F0502020204030204" pitchFamily="34" charset="0"/>
              </a:endParaRPr>
            </a:p>
          </p:txBody>
        </p:sp>
        <p:sp>
          <p:nvSpPr>
            <p:cNvPr id="7" name="Rectangle 9"/>
            <p:cNvSpPr/>
            <p:nvPr/>
          </p:nvSpPr>
          <p:spPr bwMode="auto">
            <a:xfrm>
              <a:off x="2286000" y="3226592"/>
              <a:ext cx="790575" cy="352425"/>
            </a:xfrm>
            <a:prstGeom prst="rect">
              <a:avLst/>
            </a:prstGeom>
            <a:noFill/>
            <a:ln w="12700">
              <a:noFill/>
              <a:miter lim="800000"/>
            </a:ln>
          </p:spPr>
          <p:txBody>
            <a:bodyPr lIns="0" tIns="0" rIns="40639" bIns="0"/>
            <a:lstStyle/>
            <a:p>
              <a:pPr marL="39792"/>
              <a:r>
                <a:rPr lang="en-US" sz="2400" b="1" dirty="0">
                  <a:latin typeface="Calibri" panose="020F0502020204030204" pitchFamily="34" charset="0"/>
                  <a:cs typeface="Arial" panose="020B0604020202020204" pitchFamily="34" charset="0"/>
                </a:rPr>
                <a:t>Agent</a:t>
              </a:r>
            </a:p>
          </p:txBody>
        </p:sp>
        <p:grpSp>
          <p:nvGrpSpPr>
            <p:cNvPr id="8" name="Group 10"/>
            <p:cNvGrpSpPr/>
            <p:nvPr/>
          </p:nvGrpSpPr>
          <p:grpSpPr bwMode="auto">
            <a:xfrm>
              <a:off x="3077764" y="3748869"/>
              <a:ext cx="476250" cy="323850"/>
              <a:chOff x="0" y="0"/>
              <a:chExt cx="400" cy="272"/>
            </a:xfrm>
          </p:grpSpPr>
          <p:sp>
            <p:nvSpPr>
              <p:cNvPr id="18" name="AutoShape 11"/>
              <p:cNvSpPr/>
              <p:nvPr/>
            </p:nvSpPr>
            <p:spPr bwMode="auto">
              <a:xfrm>
                <a:off x="0" y="0"/>
                <a:ext cx="400" cy="272"/>
              </a:xfrm>
              <a:prstGeom prst="roundRect">
                <a:avLst>
                  <a:gd name="adj" fmla="val 28120"/>
                </a:avLst>
              </a:prstGeom>
              <a:solidFill>
                <a:srgbClr val="FFFFFF"/>
              </a:solidFill>
              <a:ln w="12700">
                <a:solidFill>
                  <a:schemeClr val="tx1"/>
                </a:solidFill>
                <a:round/>
              </a:ln>
            </p:spPr>
            <p:txBody>
              <a:bodyPr lIns="0" tIns="0" rIns="0" bIns="0"/>
              <a:lstStyle/>
              <a:p>
                <a:endParaRPr lang="en-US" sz="2400">
                  <a:latin typeface="Calibri" panose="020F0502020204030204" pitchFamily="34" charset="0"/>
                </a:endParaRPr>
              </a:p>
            </p:txBody>
          </p:sp>
          <p:sp>
            <p:nvSpPr>
              <p:cNvPr id="19" name="Rectangle 12"/>
              <p:cNvSpPr/>
              <p:nvPr/>
            </p:nvSpPr>
            <p:spPr bwMode="auto">
              <a:xfrm>
                <a:off x="135" y="32"/>
                <a:ext cx="139" cy="236"/>
              </a:xfrm>
              <a:prstGeom prst="rect">
                <a:avLst/>
              </a:prstGeom>
              <a:noFill/>
              <a:ln w="12700">
                <a:noFill/>
                <a:miter lim="800000"/>
              </a:ln>
            </p:spPr>
            <p:txBody>
              <a:bodyPr lIns="0" tIns="0" rIns="54185" bIns="0"/>
              <a:lstStyle/>
              <a:p>
                <a:pPr marL="39792" algn="ctr"/>
                <a:r>
                  <a:rPr lang="en-US" sz="2400" b="1" dirty="0">
                    <a:latin typeface="Calibri" panose="020F0502020204030204" pitchFamily="34" charset="0"/>
                    <a:cs typeface="Arial" panose="020B0604020202020204" pitchFamily="34" charset="0"/>
                  </a:rPr>
                  <a:t>?</a:t>
                </a:r>
              </a:p>
            </p:txBody>
          </p:sp>
        </p:grpSp>
        <p:grpSp>
          <p:nvGrpSpPr>
            <p:cNvPr id="9" name="Group 13"/>
            <p:cNvGrpSpPr/>
            <p:nvPr/>
          </p:nvGrpSpPr>
          <p:grpSpPr bwMode="auto">
            <a:xfrm>
              <a:off x="2749152" y="3400425"/>
              <a:ext cx="1104900" cy="1059657"/>
              <a:chOff x="0" y="-6"/>
              <a:chExt cx="928" cy="890"/>
            </a:xfrm>
          </p:grpSpPr>
          <p:sp>
            <p:nvSpPr>
              <p:cNvPr id="16" name="Rectangle 14"/>
              <p:cNvSpPr/>
              <p:nvPr/>
            </p:nvSpPr>
            <p:spPr bwMode="auto">
              <a:xfrm>
                <a:off x="52" y="-6"/>
                <a:ext cx="824" cy="304"/>
              </a:xfrm>
              <a:prstGeom prst="rect">
                <a:avLst/>
              </a:prstGeom>
              <a:noFill/>
              <a:ln w="12700">
                <a:noFill/>
                <a:miter lim="800000"/>
              </a:ln>
            </p:spPr>
            <p:txBody>
              <a:bodyPr lIns="0" tIns="0" rIns="54185" bIns="0"/>
              <a:lstStyle/>
              <a:p>
                <a:pPr marL="39792" algn="ctr"/>
                <a:r>
                  <a:rPr lang="en-US" sz="2400" dirty="0">
                    <a:latin typeface="Calibri" panose="020F0502020204030204" pitchFamily="34" charset="0"/>
                    <a:cs typeface="Arial" panose="020B0604020202020204" pitchFamily="34" charset="0"/>
                  </a:rPr>
                  <a:t>Sensors</a:t>
                </a:r>
              </a:p>
            </p:txBody>
          </p:sp>
          <p:sp>
            <p:nvSpPr>
              <p:cNvPr id="17" name="Rectangle 15"/>
              <p:cNvSpPr/>
              <p:nvPr/>
            </p:nvSpPr>
            <p:spPr bwMode="auto">
              <a:xfrm>
                <a:off x="0" y="636"/>
                <a:ext cx="928" cy="248"/>
              </a:xfrm>
              <a:prstGeom prst="rect">
                <a:avLst/>
              </a:prstGeom>
              <a:noFill/>
              <a:ln w="12700">
                <a:noFill/>
                <a:miter lim="800000"/>
              </a:ln>
            </p:spPr>
            <p:txBody>
              <a:bodyPr lIns="0" tIns="0" rIns="54185" bIns="0"/>
              <a:lstStyle/>
              <a:p>
                <a:pPr marL="39792" algn="ctr"/>
                <a:r>
                  <a:rPr lang="en-US" sz="2400" dirty="0">
                    <a:latin typeface="Calibri" panose="020F0502020204030204" pitchFamily="34" charset="0"/>
                    <a:cs typeface="Arial" panose="020B0604020202020204" pitchFamily="34" charset="0"/>
                  </a:rPr>
                  <a:t>Actuators</a:t>
                </a:r>
              </a:p>
            </p:txBody>
          </p:sp>
        </p:grpSp>
        <p:sp>
          <p:nvSpPr>
            <p:cNvPr id="10" name="AutoShape 16"/>
            <p:cNvSpPr/>
            <p:nvPr/>
          </p:nvSpPr>
          <p:spPr bwMode="auto">
            <a:xfrm>
              <a:off x="5380433" y="3194447"/>
              <a:ext cx="1428750" cy="1304925"/>
            </a:xfrm>
            <a:prstGeom prst="roundRect">
              <a:avLst>
                <a:gd name="adj" fmla="val 10944"/>
              </a:avLst>
            </a:prstGeom>
            <a:solidFill>
              <a:srgbClr val="9FB0D1"/>
            </a:solidFill>
            <a:ln w="12700">
              <a:solidFill>
                <a:schemeClr val="tx1"/>
              </a:solidFill>
              <a:round/>
            </a:ln>
          </p:spPr>
          <p:txBody>
            <a:bodyPr lIns="0" tIns="0" rIns="0" bIns="0"/>
            <a:lstStyle/>
            <a:p>
              <a:endParaRPr lang="en-US" sz="2400">
                <a:latin typeface="Calibri" panose="020F0502020204030204" pitchFamily="34" charset="0"/>
              </a:endParaRPr>
            </a:p>
          </p:txBody>
        </p:sp>
        <p:sp>
          <p:nvSpPr>
            <p:cNvPr id="11" name="Rectangle 17"/>
            <p:cNvSpPr/>
            <p:nvPr/>
          </p:nvSpPr>
          <p:spPr bwMode="auto">
            <a:xfrm>
              <a:off x="5282802" y="3257550"/>
              <a:ext cx="1619250" cy="352425"/>
            </a:xfrm>
            <a:prstGeom prst="rect">
              <a:avLst/>
            </a:prstGeom>
            <a:noFill/>
            <a:ln w="12700">
              <a:noFill/>
              <a:miter lim="800000"/>
            </a:ln>
          </p:spPr>
          <p:txBody>
            <a:bodyPr lIns="0" tIns="0" rIns="40639" bIns="0"/>
            <a:lstStyle/>
            <a:p>
              <a:pPr marL="39792" algn="ctr"/>
              <a:r>
                <a:rPr lang="en-US" sz="2400" b="1" dirty="0">
                  <a:latin typeface="Calibri" panose="020F0502020204030204" pitchFamily="34" charset="0"/>
                  <a:cs typeface="Arial" panose="020B0604020202020204" pitchFamily="34" charset="0"/>
                </a:rPr>
                <a:t>Environment</a:t>
              </a:r>
            </a:p>
          </p:txBody>
        </p:sp>
        <p:sp>
          <p:nvSpPr>
            <p:cNvPr id="12" name="Line 18"/>
            <p:cNvSpPr>
              <a:spLocks noChangeShapeType="1"/>
            </p:cNvSpPr>
            <p:nvPr/>
          </p:nvSpPr>
          <p:spPr bwMode="auto">
            <a:xfrm rot="10800000" flipH="1">
              <a:off x="3896915" y="3574256"/>
              <a:ext cx="1859756" cy="0"/>
            </a:xfrm>
            <a:prstGeom prst="line">
              <a:avLst/>
            </a:prstGeom>
            <a:noFill/>
            <a:ln w="25400">
              <a:solidFill>
                <a:schemeClr val="tx1"/>
              </a:solidFill>
              <a:round/>
              <a:headEnd type="stealth" w="med" len="med"/>
            </a:ln>
          </p:spPr>
          <p:txBody>
            <a:bodyPr lIns="91439" tIns="45719" rIns="91439" bIns="45719"/>
            <a:lstStyle/>
            <a:p>
              <a:endParaRPr lang="en-US" sz="2400">
                <a:latin typeface="Calibri" panose="020F0502020204030204" pitchFamily="34" charset="0"/>
              </a:endParaRPr>
            </a:p>
          </p:txBody>
        </p:sp>
        <p:sp>
          <p:nvSpPr>
            <p:cNvPr id="13" name="Line 19"/>
            <p:cNvSpPr>
              <a:spLocks noChangeShapeType="1"/>
            </p:cNvSpPr>
            <p:nvPr/>
          </p:nvSpPr>
          <p:spPr bwMode="auto">
            <a:xfrm flipH="1">
              <a:off x="3989783" y="4324350"/>
              <a:ext cx="1760934" cy="0"/>
            </a:xfrm>
            <a:prstGeom prst="line">
              <a:avLst/>
            </a:prstGeom>
            <a:noFill/>
            <a:ln w="25400">
              <a:solidFill>
                <a:schemeClr val="tx1"/>
              </a:solidFill>
              <a:round/>
              <a:headEnd type="stealth" w="med" len="med"/>
            </a:ln>
          </p:spPr>
          <p:txBody>
            <a:bodyPr lIns="91439" tIns="45719" rIns="91439" bIns="45719"/>
            <a:lstStyle/>
            <a:p>
              <a:endParaRPr lang="en-US" sz="2400">
                <a:latin typeface="Calibri" panose="020F0502020204030204" pitchFamily="34" charset="0"/>
              </a:endParaRPr>
            </a:p>
          </p:txBody>
        </p:sp>
        <p:sp>
          <p:nvSpPr>
            <p:cNvPr id="14" name="Rectangle 20"/>
            <p:cNvSpPr/>
            <p:nvPr/>
          </p:nvSpPr>
          <p:spPr bwMode="auto">
            <a:xfrm>
              <a:off x="4396977" y="3584972"/>
              <a:ext cx="942975" cy="266700"/>
            </a:xfrm>
            <a:prstGeom prst="rect">
              <a:avLst/>
            </a:prstGeom>
            <a:noFill/>
            <a:ln w="12700">
              <a:noFill/>
              <a:miter lim="800000"/>
            </a:ln>
          </p:spPr>
          <p:txBody>
            <a:bodyPr lIns="0" tIns="0" rIns="40639" bIns="0"/>
            <a:lstStyle/>
            <a:p>
              <a:pPr marL="39792" algn="ctr"/>
              <a:r>
                <a:rPr lang="en-US" sz="2133" dirty="0">
                  <a:latin typeface="Calibri" panose="020F0502020204030204" pitchFamily="34" charset="0"/>
                  <a:cs typeface="Arial" panose="020B0604020202020204" pitchFamily="34" charset="0"/>
                </a:rPr>
                <a:t>Percepts</a:t>
              </a:r>
            </a:p>
          </p:txBody>
        </p:sp>
        <p:sp>
          <p:nvSpPr>
            <p:cNvPr id="15" name="Rectangle 21"/>
            <p:cNvSpPr/>
            <p:nvPr/>
          </p:nvSpPr>
          <p:spPr bwMode="auto">
            <a:xfrm>
              <a:off x="4463652" y="4324350"/>
              <a:ext cx="809625" cy="304800"/>
            </a:xfrm>
            <a:prstGeom prst="rect">
              <a:avLst/>
            </a:prstGeom>
            <a:noFill/>
            <a:ln w="12700">
              <a:noFill/>
              <a:miter lim="800000"/>
            </a:ln>
          </p:spPr>
          <p:txBody>
            <a:bodyPr lIns="0" tIns="0" rIns="40639" bIns="0"/>
            <a:lstStyle/>
            <a:p>
              <a:pPr marL="39792" algn="ctr"/>
              <a:r>
                <a:rPr lang="en-US" sz="2133" dirty="0">
                  <a:latin typeface="Calibri" panose="020F0502020204030204" pitchFamily="34" charset="0"/>
                  <a:cs typeface="Arial" panose="020B0604020202020204" pitchFamily="34" charset="0"/>
                </a:rPr>
                <a:t>Actions</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Agents and environments</a:t>
            </a:r>
          </a:p>
        </p:txBody>
      </p:sp>
      <p:sp>
        <p:nvSpPr>
          <p:cNvPr id="3" name="Content Placeholder 2"/>
          <p:cNvSpPr>
            <a:spLocks noGrp="1"/>
          </p:cNvSpPr>
          <p:nvPr>
            <p:ph idx="1"/>
          </p:nvPr>
        </p:nvSpPr>
        <p:spPr>
          <a:xfrm>
            <a:off x="406400" y="4445003"/>
            <a:ext cx="11785600" cy="1681164"/>
          </a:xfrm>
        </p:spPr>
        <p:txBody>
          <a:bodyPr>
            <a:normAutofit lnSpcReduction="10000"/>
          </a:bodyPr>
          <a:lstStyle/>
          <a:p>
            <a:r>
              <a:rPr lang="en-US" dirty="0"/>
              <a:t>Are humans agents?</a:t>
            </a:r>
          </a:p>
          <a:p>
            <a:r>
              <a:rPr lang="en-US" dirty="0"/>
              <a:t>Yes!</a:t>
            </a:r>
          </a:p>
          <a:p>
            <a:pPr lvl="1"/>
            <a:r>
              <a:rPr lang="en-US" dirty="0"/>
              <a:t>Sensors = vision, audio, touch, smell, taste, proprioception</a:t>
            </a:r>
          </a:p>
          <a:p>
            <a:pPr lvl="1"/>
            <a:r>
              <a:rPr lang="en-US" dirty="0"/>
              <a:t>Actuators = muscles, secretions, changing brain state</a:t>
            </a:r>
          </a:p>
        </p:txBody>
      </p:sp>
      <p:grpSp>
        <p:nvGrpSpPr>
          <p:cNvPr id="4" name="Group 3"/>
          <p:cNvGrpSpPr/>
          <p:nvPr/>
        </p:nvGrpSpPr>
        <p:grpSpPr>
          <a:xfrm>
            <a:off x="2946400" y="1803405"/>
            <a:ext cx="6256336" cy="1912937"/>
            <a:chOff x="2209800" y="3194447"/>
            <a:chExt cx="4692252" cy="1434703"/>
          </a:xfrm>
        </p:grpSpPr>
        <p:sp>
          <p:nvSpPr>
            <p:cNvPr id="5" name="AutoShape 7"/>
            <p:cNvSpPr/>
            <p:nvPr/>
          </p:nvSpPr>
          <p:spPr bwMode="auto">
            <a:xfrm>
              <a:off x="2209800" y="3200398"/>
              <a:ext cx="2155031" cy="1309688"/>
            </a:xfrm>
            <a:prstGeom prst="roundRect">
              <a:avLst>
                <a:gd name="adj" fmla="val 10912"/>
              </a:avLst>
            </a:prstGeom>
            <a:solidFill>
              <a:srgbClr val="9FB0D1"/>
            </a:solidFill>
            <a:ln w="12700">
              <a:solidFill>
                <a:schemeClr val="tx1"/>
              </a:solidFill>
              <a:round/>
            </a:ln>
          </p:spPr>
          <p:txBody>
            <a:bodyPr lIns="0" tIns="0" rIns="0" bIns="0"/>
            <a:lstStyle/>
            <a:p>
              <a:endParaRPr lang="en-US" sz="2400">
                <a:latin typeface="Calibri" panose="020F0502020204030204" pitchFamily="34" charset="0"/>
              </a:endParaRPr>
            </a:p>
          </p:txBody>
        </p:sp>
        <p:sp>
          <p:nvSpPr>
            <p:cNvPr id="6" name="Line 8"/>
            <p:cNvSpPr>
              <a:spLocks noChangeShapeType="1"/>
            </p:cNvSpPr>
            <p:nvPr/>
          </p:nvSpPr>
          <p:spPr bwMode="auto">
            <a:xfrm rot="10800000" flipH="1">
              <a:off x="3325414" y="3672670"/>
              <a:ext cx="0" cy="531019"/>
            </a:xfrm>
            <a:prstGeom prst="line">
              <a:avLst/>
            </a:prstGeom>
            <a:noFill/>
            <a:ln w="25400">
              <a:solidFill>
                <a:schemeClr val="tx1"/>
              </a:solidFill>
              <a:round/>
              <a:headEnd type="stealth" w="med" len="med"/>
            </a:ln>
          </p:spPr>
          <p:txBody>
            <a:bodyPr lIns="91439" tIns="45719" rIns="91439" bIns="45719"/>
            <a:lstStyle/>
            <a:p>
              <a:endParaRPr lang="en-US" sz="2400">
                <a:latin typeface="Calibri" panose="020F0502020204030204" pitchFamily="34" charset="0"/>
              </a:endParaRPr>
            </a:p>
          </p:txBody>
        </p:sp>
        <p:sp>
          <p:nvSpPr>
            <p:cNvPr id="7" name="Rectangle 9"/>
            <p:cNvSpPr/>
            <p:nvPr/>
          </p:nvSpPr>
          <p:spPr bwMode="auto">
            <a:xfrm>
              <a:off x="2286000" y="3226592"/>
              <a:ext cx="790575" cy="352425"/>
            </a:xfrm>
            <a:prstGeom prst="rect">
              <a:avLst/>
            </a:prstGeom>
            <a:noFill/>
            <a:ln w="12700">
              <a:noFill/>
              <a:miter lim="800000"/>
            </a:ln>
          </p:spPr>
          <p:txBody>
            <a:bodyPr lIns="0" tIns="0" rIns="40639" bIns="0"/>
            <a:lstStyle/>
            <a:p>
              <a:pPr marL="39792"/>
              <a:r>
                <a:rPr lang="en-US" sz="2400" b="1" dirty="0">
                  <a:latin typeface="Calibri" panose="020F0502020204030204" pitchFamily="34" charset="0"/>
                  <a:cs typeface="Arial" panose="020B0604020202020204" pitchFamily="34" charset="0"/>
                </a:rPr>
                <a:t>Agent</a:t>
              </a:r>
            </a:p>
          </p:txBody>
        </p:sp>
        <p:grpSp>
          <p:nvGrpSpPr>
            <p:cNvPr id="8" name="Group 10"/>
            <p:cNvGrpSpPr/>
            <p:nvPr/>
          </p:nvGrpSpPr>
          <p:grpSpPr bwMode="auto">
            <a:xfrm>
              <a:off x="3077764" y="3748869"/>
              <a:ext cx="476250" cy="323850"/>
              <a:chOff x="0" y="0"/>
              <a:chExt cx="400" cy="272"/>
            </a:xfrm>
          </p:grpSpPr>
          <p:sp>
            <p:nvSpPr>
              <p:cNvPr id="18" name="AutoShape 11"/>
              <p:cNvSpPr/>
              <p:nvPr/>
            </p:nvSpPr>
            <p:spPr bwMode="auto">
              <a:xfrm>
                <a:off x="0" y="0"/>
                <a:ext cx="400" cy="272"/>
              </a:xfrm>
              <a:prstGeom prst="roundRect">
                <a:avLst>
                  <a:gd name="adj" fmla="val 28120"/>
                </a:avLst>
              </a:prstGeom>
              <a:solidFill>
                <a:srgbClr val="FFFFFF"/>
              </a:solidFill>
              <a:ln w="12700">
                <a:solidFill>
                  <a:schemeClr val="tx1"/>
                </a:solidFill>
                <a:round/>
              </a:ln>
            </p:spPr>
            <p:txBody>
              <a:bodyPr lIns="0" tIns="0" rIns="0" bIns="0"/>
              <a:lstStyle/>
              <a:p>
                <a:endParaRPr lang="en-US" sz="2400">
                  <a:latin typeface="Calibri" panose="020F0502020204030204" pitchFamily="34" charset="0"/>
                </a:endParaRPr>
              </a:p>
            </p:txBody>
          </p:sp>
          <p:sp>
            <p:nvSpPr>
              <p:cNvPr id="19" name="Rectangle 12"/>
              <p:cNvSpPr/>
              <p:nvPr/>
            </p:nvSpPr>
            <p:spPr bwMode="auto">
              <a:xfrm>
                <a:off x="135" y="32"/>
                <a:ext cx="139" cy="236"/>
              </a:xfrm>
              <a:prstGeom prst="rect">
                <a:avLst/>
              </a:prstGeom>
              <a:noFill/>
              <a:ln w="12700">
                <a:noFill/>
                <a:miter lim="800000"/>
              </a:ln>
            </p:spPr>
            <p:txBody>
              <a:bodyPr lIns="0" tIns="0" rIns="54185" bIns="0"/>
              <a:lstStyle/>
              <a:p>
                <a:pPr marL="39792" algn="ctr"/>
                <a:r>
                  <a:rPr lang="en-US" sz="2400" b="1" dirty="0">
                    <a:latin typeface="Calibri" panose="020F0502020204030204" pitchFamily="34" charset="0"/>
                    <a:cs typeface="Arial" panose="020B0604020202020204" pitchFamily="34" charset="0"/>
                  </a:rPr>
                  <a:t>?</a:t>
                </a:r>
              </a:p>
            </p:txBody>
          </p:sp>
        </p:grpSp>
        <p:grpSp>
          <p:nvGrpSpPr>
            <p:cNvPr id="9" name="Group 13"/>
            <p:cNvGrpSpPr/>
            <p:nvPr/>
          </p:nvGrpSpPr>
          <p:grpSpPr bwMode="auto">
            <a:xfrm>
              <a:off x="2749152" y="3400425"/>
              <a:ext cx="1104900" cy="1059657"/>
              <a:chOff x="0" y="-6"/>
              <a:chExt cx="928" cy="890"/>
            </a:xfrm>
          </p:grpSpPr>
          <p:sp>
            <p:nvSpPr>
              <p:cNvPr id="16" name="Rectangle 14"/>
              <p:cNvSpPr/>
              <p:nvPr/>
            </p:nvSpPr>
            <p:spPr bwMode="auto">
              <a:xfrm>
                <a:off x="52" y="-6"/>
                <a:ext cx="824" cy="304"/>
              </a:xfrm>
              <a:prstGeom prst="rect">
                <a:avLst/>
              </a:prstGeom>
              <a:noFill/>
              <a:ln w="12700">
                <a:noFill/>
                <a:miter lim="800000"/>
              </a:ln>
            </p:spPr>
            <p:txBody>
              <a:bodyPr lIns="0" tIns="0" rIns="54185" bIns="0"/>
              <a:lstStyle/>
              <a:p>
                <a:pPr marL="39792" algn="ctr"/>
                <a:r>
                  <a:rPr lang="en-US" sz="2400" dirty="0">
                    <a:latin typeface="Calibri" panose="020F0502020204030204" pitchFamily="34" charset="0"/>
                    <a:cs typeface="Arial" panose="020B0604020202020204" pitchFamily="34" charset="0"/>
                  </a:rPr>
                  <a:t>Sensors</a:t>
                </a:r>
              </a:p>
            </p:txBody>
          </p:sp>
          <p:sp>
            <p:nvSpPr>
              <p:cNvPr id="17" name="Rectangle 15"/>
              <p:cNvSpPr/>
              <p:nvPr/>
            </p:nvSpPr>
            <p:spPr bwMode="auto">
              <a:xfrm>
                <a:off x="0" y="636"/>
                <a:ext cx="928" cy="248"/>
              </a:xfrm>
              <a:prstGeom prst="rect">
                <a:avLst/>
              </a:prstGeom>
              <a:noFill/>
              <a:ln w="12700">
                <a:noFill/>
                <a:miter lim="800000"/>
              </a:ln>
            </p:spPr>
            <p:txBody>
              <a:bodyPr lIns="0" tIns="0" rIns="54185" bIns="0"/>
              <a:lstStyle/>
              <a:p>
                <a:pPr marL="39792" algn="ctr"/>
                <a:r>
                  <a:rPr lang="en-US" sz="2400" dirty="0">
                    <a:latin typeface="Calibri" panose="020F0502020204030204" pitchFamily="34" charset="0"/>
                    <a:cs typeface="Arial" panose="020B0604020202020204" pitchFamily="34" charset="0"/>
                  </a:rPr>
                  <a:t>Actuators</a:t>
                </a:r>
              </a:p>
            </p:txBody>
          </p:sp>
        </p:grpSp>
        <p:sp>
          <p:nvSpPr>
            <p:cNvPr id="10" name="AutoShape 16"/>
            <p:cNvSpPr/>
            <p:nvPr/>
          </p:nvSpPr>
          <p:spPr bwMode="auto">
            <a:xfrm>
              <a:off x="5380433" y="3194447"/>
              <a:ext cx="1428750" cy="1304925"/>
            </a:xfrm>
            <a:prstGeom prst="roundRect">
              <a:avLst>
                <a:gd name="adj" fmla="val 10944"/>
              </a:avLst>
            </a:prstGeom>
            <a:solidFill>
              <a:srgbClr val="9FB0D1"/>
            </a:solidFill>
            <a:ln w="12700">
              <a:solidFill>
                <a:schemeClr val="tx1"/>
              </a:solidFill>
              <a:round/>
            </a:ln>
          </p:spPr>
          <p:txBody>
            <a:bodyPr lIns="0" tIns="0" rIns="0" bIns="0"/>
            <a:lstStyle/>
            <a:p>
              <a:endParaRPr lang="en-US" sz="2400">
                <a:latin typeface="Calibri" panose="020F0502020204030204" pitchFamily="34" charset="0"/>
              </a:endParaRPr>
            </a:p>
          </p:txBody>
        </p:sp>
        <p:sp>
          <p:nvSpPr>
            <p:cNvPr id="11" name="Rectangle 17"/>
            <p:cNvSpPr/>
            <p:nvPr/>
          </p:nvSpPr>
          <p:spPr bwMode="auto">
            <a:xfrm>
              <a:off x="5282802" y="3257550"/>
              <a:ext cx="1619250" cy="352425"/>
            </a:xfrm>
            <a:prstGeom prst="rect">
              <a:avLst/>
            </a:prstGeom>
            <a:noFill/>
            <a:ln w="12700">
              <a:noFill/>
              <a:miter lim="800000"/>
            </a:ln>
          </p:spPr>
          <p:txBody>
            <a:bodyPr lIns="0" tIns="0" rIns="40639" bIns="0"/>
            <a:lstStyle/>
            <a:p>
              <a:pPr marL="39792" algn="ctr"/>
              <a:r>
                <a:rPr lang="en-US" sz="2400" b="1" dirty="0">
                  <a:latin typeface="Calibri" panose="020F0502020204030204" pitchFamily="34" charset="0"/>
                  <a:cs typeface="Arial" panose="020B0604020202020204" pitchFamily="34" charset="0"/>
                </a:rPr>
                <a:t>Environment</a:t>
              </a:r>
            </a:p>
          </p:txBody>
        </p:sp>
        <p:sp>
          <p:nvSpPr>
            <p:cNvPr id="12" name="Line 18"/>
            <p:cNvSpPr>
              <a:spLocks noChangeShapeType="1"/>
            </p:cNvSpPr>
            <p:nvPr/>
          </p:nvSpPr>
          <p:spPr bwMode="auto">
            <a:xfrm rot="10800000" flipH="1">
              <a:off x="3896915" y="3574256"/>
              <a:ext cx="1859756" cy="0"/>
            </a:xfrm>
            <a:prstGeom prst="line">
              <a:avLst/>
            </a:prstGeom>
            <a:noFill/>
            <a:ln w="25400">
              <a:solidFill>
                <a:schemeClr val="tx1"/>
              </a:solidFill>
              <a:round/>
              <a:headEnd type="stealth" w="med" len="med"/>
            </a:ln>
          </p:spPr>
          <p:txBody>
            <a:bodyPr lIns="91439" tIns="45719" rIns="91439" bIns="45719"/>
            <a:lstStyle/>
            <a:p>
              <a:endParaRPr lang="en-US" sz="2400">
                <a:latin typeface="Calibri" panose="020F0502020204030204" pitchFamily="34" charset="0"/>
              </a:endParaRPr>
            </a:p>
          </p:txBody>
        </p:sp>
        <p:sp>
          <p:nvSpPr>
            <p:cNvPr id="13" name="Line 19"/>
            <p:cNvSpPr>
              <a:spLocks noChangeShapeType="1"/>
            </p:cNvSpPr>
            <p:nvPr/>
          </p:nvSpPr>
          <p:spPr bwMode="auto">
            <a:xfrm flipH="1">
              <a:off x="3989783" y="4324350"/>
              <a:ext cx="1760934" cy="0"/>
            </a:xfrm>
            <a:prstGeom prst="line">
              <a:avLst/>
            </a:prstGeom>
            <a:noFill/>
            <a:ln w="25400">
              <a:solidFill>
                <a:schemeClr val="tx1"/>
              </a:solidFill>
              <a:round/>
              <a:headEnd type="stealth" w="med" len="med"/>
            </a:ln>
          </p:spPr>
          <p:txBody>
            <a:bodyPr lIns="91439" tIns="45719" rIns="91439" bIns="45719"/>
            <a:lstStyle/>
            <a:p>
              <a:endParaRPr lang="en-US" sz="2400">
                <a:latin typeface="Calibri" panose="020F0502020204030204" pitchFamily="34" charset="0"/>
              </a:endParaRPr>
            </a:p>
          </p:txBody>
        </p:sp>
        <p:sp>
          <p:nvSpPr>
            <p:cNvPr id="14" name="Rectangle 20"/>
            <p:cNvSpPr/>
            <p:nvPr/>
          </p:nvSpPr>
          <p:spPr bwMode="auto">
            <a:xfrm>
              <a:off x="4396977" y="3584972"/>
              <a:ext cx="942975" cy="266700"/>
            </a:xfrm>
            <a:prstGeom prst="rect">
              <a:avLst/>
            </a:prstGeom>
            <a:noFill/>
            <a:ln w="12700">
              <a:noFill/>
              <a:miter lim="800000"/>
            </a:ln>
          </p:spPr>
          <p:txBody>
            <a:bodyPr lIns="0" tIns="0" rIns="40639" bIns="0"/>
            <a:lstStyle/>
            <a:p>
              <a:pPr marL="39792" algn="ctr"/>
              <a:r>
                <a:rPr lang="en-US" sz="2133" dirty="0">
                  <a:latin typeface="Calibri" panose="020F0502020204030204" pitchFamily="34" charset="0"/>
                  <a:cs typeface="Arial" panose="020B0604020202020204" pitchFamily="34" charset="0"/>
                </a:rPr>
                <a:t>Percepts</a:t>
              </a:r>
            </a:p>
          </p:txBody>
        </p:sp>
        <p:sp>
          <p:nvSpPr>
            <p:cNvPr id="15" name="Rectangle 21"/>
            <p:cNvSpPr/>
            <p:nvPr/>
          </p:nvSpPr>
          <p:spPr bwMode="auto">
            <a:xfrm>
              <a:off x="4463652" y="4324350"/>
              <a:ext cx="809625" cy="304800"/>
            </a:xfrm>
            <a:prstGeom prst="rect">
              <a:avLst/>
            </a:prstGeom>
            <a:noFill/>
            <a:ln w="12700">
              <a:noFill/>
              <a:miter lim="800000"/>
            </a:ln>
          </p:spPr>
          <p:txBody>
            <a:bodyPr lIns="0" tIns="0" rIns="40639" bIns="0"/>
            <a:lstStyle/>
            <a:p>
              <a:pPr marL="39792" algn="ctr"/>
              <a:r>
                <a:rPr lang="en-US" sz="2133" dirty="0">
                  <a:latin typeface="Calibri" panose="020F0502020204030204" pitchFamily="34" charset="0"/>
                  <a:cs typeface="Arial" panose="020B0604020202020204" pitchFamily="34" charset="0"/>
                </a:rPr>
                <a:t>Actions</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Agents and environments</a:t>
            </a:r>
          </a:p>
        </p:txBody>
      </p:sp>
      <p:sp>
        <p:nvSpPr>
          <p:cNvPr id="3" name="Content Placeholder 2"/>
          <p:cNvSpPr>
            <a:spLocks noGrp="1"/>
          </p:cNvSpPr>
          <p:nvPr>
            <p:ph idx="1"/>
          </p:nvPr>
        </p:nvSpPr>
        <p:spPr>
          <a:xfrm>
            <a:off x="406400" y="4445003"/>
            <a:ext cx="11785600" cy="1681164"/>
          </a:xfrm>
        </p:spPr>
        <p:txBody>
          <a:bodyPr>
            <a:normAutofit lnSpcReduction="10000"/>
          </a:bodyPr>
          <a:lstStyle/>
          <a:p>
            <a:r>
              <a:rPr lang="en-US" dirty="0"/>
              <a:t>Are pocket calculators agents?</a:t>
            </a:r>
          </a:p>
          <a:p>
            <a:r>
              <a:rPr lang="en-US" dirty="0"/>
              <a:t>Yes!</a:t>
            </a:r>
          </a:p>
          <a:p>
            <a:pPr lvl="1"/>
            <a:r>
              <a:rPr lang="en-US" dirty="0"/>
              <a:t>Sensors = key state sensors</a:t>
            </a:r>
          </a:p>
          <a:p>
            <a:pPr lvl="1"/>
            <a:r>
              <a:rPr lang="en-US" dirty="0"/>
              <a:t>Actuators = digit display</a:t>
            </a:r>
          </a:p>
        </p:txBody>
      </p:sp>
      <p:grpSp>
        <p:nvGrpSpPr>
          <p:cNvPr id="4" name="Group 3"/>
          <p:cNvGrpSpPr/>
          <p:nvPr/>
        </p:nvGrpSpPr>
        <p:grpSpPr>
          <a:xfrm>
            <a:off x="2946400" y="1803405"/>
            <a:ext cx="6256336" cy="1912937"/>
            <a:chOff x="2209800" y="3194447"/>
            <a:chExt cx="4692252" cy="1434703"/>
          </a:xfrm>
        </p:grpSpPr>
        <p:sp>
          <p:nvSpPr>
            <p:cNvPr id="5" name="AutoShape 7"/>
            <p:cNvSpPr/>
            <p:nvPr/>
          </p:nvSpPr>
          <p:spPr bwMode="auto">
            <a:xfrm>
              <a:off x="2209800" y="3200398"/>
              <a:ext cx="2155031" cy="1309688"/>
            </a:xfrm>
            <a:prstGeom prst="roundRect">
              <a:avLst>
                <a:gd name="adj" fmla="val 10912"/>
              </a:avLst>
            </a:prstGeom>
            <a:solidFill>
              <a:srgbClr val="9FB0D1"/>
            </a:solidFill>
            <a:ln w="12700">
              <a:solidFill>
                <a:schemeClr val="tx1"/>
              </a:solidFill>
              <a:round/>
            </a:ln>
          </p:spPr>
          <p:txBody>
            <a:bodyPr lIns="0" tIns="0" rIns="0" bIns="0"/>
            <a:lstStyle/>
            <a:p>
              <a:endParaRPr lang="en-US" sz="2400">
                <a:latin typeface="Calibri" panose="020F0502020204030204" pitchFamily="34" charset="0"/>
              </a:endParaRPr>
            </a:p>
          </p:txBody>
        </p:sp>
        <p:sp>
          <p:nvSpPr>
            <p:cNvPr id="6" name="Line 8"/>
            <p:cNvSpPr>
              <a:spLocks noChangeShapeType="1"/>
            </p:cNvSpPr>
            <p:nvPr/>
          </p:nvSpPr>
          <p:spPr bwMode="auto">
            <a:xfrm rot="10800000" flipH="1">
              <a:off x="3325414" y="3672670"/>
              <a:ext cx="0" cy="531019"/>
            </a:xfrm>
            <a:prstGeom prst="line">
              <a:avLst/>
            </a:prstGeom>
            <a:noFill/>
            <a:ln w="25400">
              <a:solidFill>
                <a:schemeClr val="tx1"/>
              </a:solidFill>
              <a:round/>
              <a:headEnd type="stealth" w="med" len="med"/>
            </a:ln>
          </p:spPr>
          <p:txBody>
            <a:bodyPr lIns="91439" tIns="45719" rIns="91439" bIns="45719"/>
            <a:lstStyle/>
            <a:p>
              <a:endParaRPr lang="en-US" sz="2400">
                <a:latin typeface="Calibri" panose="020F0502020204030204" pitchFamily="34" charset="0"/>
              </a:endParaRPr>
            </a:p>
          </p:txBody>
        </p:sp>
        <p:sp>
          <p:nvSpPr>
            <p:cNvPr id="7" name="Rectangle 9"/>
            <p:cNvSpPr/>
            <p:nvPr/>
          </p:nvSpPr>
          <p:spPr bwMode="auto">
            <a:xfrm>
              <a:off x="2286000" y="3226592"/>
              <a:ext cx="790575" cy="352425"/>
            </a:xfrm>
            <a:prstGeom prst="rect">
              <a:avLst/>
            </a:prstGeom>
            <a:noFill/>
            <a:ln w="12700">
              <a:noFill/>
              <a:miter lim="800000"/>
            </a:ln>
          </p:spPr>
          <p:txBody>
            <a:bodyPr lIns="0" tIns="0" rIns="40639" bIns="0"/>
            <a:lstStyle/>
            <a:p>
              <a:pPr marL="39792"/>
              <a:r>
                <a:rPr lang="en-US" sz="2400" b="1" dirty="0">
                  <a:latin typeface="Calibri" panose="020F0502020204030204" pitchFamily="34" charset="0"/>
                  <a:cs typeface="Arial" panose="020B0604020202020204" pitchFamily="34" charset="0"/>
                </a:rPr>
                <a:t>Agent</a:t>
              </a:r>
            </a:p>
          </p:txBody>
        </p:sp>
        <p:grpSp>
          <p:nvGrpSpPr>
            <p:cNvPr id="8" name="Group 10"/>
            <p:cNvGrpSpPr/>
            <p:nvPr/>
          </p:nvGrpSpPr>
          <p:grpSpPr bwMode="auto">
            <a:xfrm>
              <a:off x="3077764" y="3748869"/>
              <a:ext cx="476250" cy="323850"/>
              <a:chOff x="0" y="0"/>
              <a:chExt cx="400" cy="272"/>
            </a:xfrm>
          </p:grpSpPr>
          <p:sp>
            <p:nvSpPr>
              <p:cNvPr id="18" name="AutoShape 11"/>
              <p:cNvSpPr/>
              <p:nvPr/>
            </p:nvSpPr>
            <p:spPr bwMode="auto">
              <a:xfrm>
                <a:off x="0" y="0"/>
                <a:ext cx="400" cy="272"/>
              </a:xfrm>
              <a:prstGeom prst="roundRect">
                <a:avLst>
                  <a:gd name="adj" fmla="val 28120"/>
                </a:avLst>
              </a:prstGeom>
              <a:solidFill>
                <a:srgbClr val="FFFFFF"/>
              </a:solidFill>
              <a:ln w="12700">
                <a:solidFill>
                  <a:schemeClr val="tx1"/>
                </a:solidFill>
                <a:round/>
              </a:ln>
            </p:spPr>
            <p:txBody>
              <a:bodyPr lIns="0" tIns="0" rIns="0" bIns="0"/>
              <a:lstStyle/>
              <a:p>
                <a:endParaRPr lang="en-US" sz="2400">
                  <a:latin typeface="Calibri" panose="020F0502020204030204" pitchFamily="34" charset="0"/>
                </a:endParaRPr>
              </a:p>
            </p:txBody>
          </p:sp>
          <p:sp>
            <p:nvSpPr>
              <p:cNvPr id="19" name="Rectangle 12"/>
              <p:cNvSpPr/>
              <p:nvPr/>
            </p:nvSpPr>
            <p:spPr bwMode="auto">
              <a:xfrm>
                <a:off x="135" y="32"/>
                <a:ext cx="139" cy="236"/>
              </a:xfrm>
              <a:prstGeom prst="rect">
                <a:avLst/>
              </a:prstGeom>
              <a:noFill/>
              <a:ln w="12700">
                <a:noFill/>
                <a:miter lim="800000"/>
              </a:ln>
            </p:spPr>
            <p:txBody>
              <a:bodyPr lIns="0" tIns="0" rIns="54185" bIns="0"/>
              <a:lstStyle/>
              <a:p>
                <a:pPr marL="39792" algn="ctr"/>
                <a:r>
                  <a:rPr lang="en-US" sz="2400" b="1" dirty="0">
                    <a:latin typeface="Calibri" panose="020F0502020204030204" pitchFamily="34" charset="0"/>
                    <a:cs typeface="Arial" panose="020B0604020202020204" pitchFamily="34" charset="0"/>
                  </a:rPr>
                  <a:t>?</a:t>
                </a:r>
              </a:p>
            </p:txBody>
          </p:sp>
        </p:grpSp>
        <p:grpSp>
          <p:nvGrpSpPr>
            <p:cNvPr id="9" name="Group 13"/>
            <p:cNvGrpSpPr/>
            <p:nvPr/>
          </p:nvGrpSpPr>
          <p:grpSpPr bwMode="auto">
            <a:xfrm>
              <a:off x="2749152" y="3400425"/>
              <a:ext cx="1104900" cy="1059657"/>
              <a:chOff x="0" y="-6"/>
              <a:chExt cx="928" cy="890"/>
            </a:xfrm>
          </p:grpSpPr>
          <p:sp>
            <p:nvSpPr>
              <p:cNvPr id="16" name="Rectangle 14"/>
              <p:cNvSpPr/>
              <p:nvPr/>
            </p:nvSpPr>
            <p:spPr bwMode="auto">
              <a:xfrm>
                <a:off x="52" y="-6"/>
                <a:ext cx="824" cy="304"/>
              </a:xfrm>
              <a:prstGeom prst="rect">
                <a:avLst/>
              </a:prstGeom>
              <a:noFill/>
              <a:ln w="12700">
                <a:noFill/>
                <a:miter lim="800000"/>
              </a:ln>
            </p:spPr>
            <p:txBody>
              <a:bodyPr lIns="0" tIns="0" rIns="54185" bIns="0"/>
              <a:lstStyle/>
              <a:p>
                <a:pPr marL="39792" algn="ctr"/>
                <a:r>
                  <a:rPr lang="en-US" sz="2400" dirty="0">
                    <a:latin typeface="Calibri" panose="020F0502020204030204" pitchFamily="34" charset="0"/>
                    <a:cs typeface="Arial" panose="020B0604020202020204" pitchFamily="34" charset="0"/>
                  </a:rPr>
                  <a:t>Sensors</a:t>
                </a:r>
              </a:p>
            </p:txBody>
          </p:sp>
          <p:sp>
            <p:nvSpPr>
              <p:cNvPr id="17" name="Rectangle 15"/>
              <p:cNvSpPr/>
              <p:nvPr/>
            </p:nvSpPr>
            <p:spPr bwMode="auto">
              <a:xfrm>
                <a:off x="0" y="636"/>
                <a:ext cx="928" cy="248"/>
              </a:xfrm>
              <a:prstGeom prst="rect">
                <a:avLst/>
              </a:prstGeom>
              <a:noFill/>
              <a:ln w="12700">
                <a:noFill/>
                <a:miter lim="800000"/>
              </a:ln>
            </p:spPr>
            <p:txBody>
              <a:bodyPr lIns="0" tIns="0" rIns="54185" bIns="0"/>
              <a:lstStyle/>
              <a:p>
                <a:pPr marL="39792" algn="ctr"/>
                <a:r>
                  <a:rPr lang="en-US" sz="2400" dirty="0">
                    <a:latin typeface="Calibri" panose="020F0502020204030204" pitchFamily="34" charset="0"/>
                    <a:cs typeface="Arial" panose="020B0604020202020204" pitchFamily="34" charset="0"/>
                  </a:rPr>
                  <a:t>Actuators</a:t>
                </a:r>
              </a:p>
            </p:txBody>
          </p:sp>
        </p:grpSp>
        <p:sp>
          <p:nvSpPr>
            <p:cNvPr id="10" name="AutoShape 16"/>
            <p:cNvSpPr/>
            <p:nvPr/>
          </p:nvSpPr>
          <p:spPr bwMode="auto">
            <a:xfrm>
              <a:off x="5380433" y="3194447"/>
              <a:ext cx="1428750" cy="1304925"/>
            </a:xfrm>
            <a:prstGeom prst="roundRect">
              <a:avLst>
                <a:gd name="adj" fmla="val 10944"/>
              </a:avLst>
            </a:prstGeom>
            <a:solidFill>
              <a:srgbClr val="9FB0D1"/>
            </a:solidFill>
            <a:ln w="12700">
              <a:solidFill>
                <a:schemeClr val="tx1"/>
              </a:solidFill>
              <a:round/>
            </a:ln>
          </p:spPr>
          <p:txBody>
            <a:bodyPr lIns="0" tIns="0" rIns="0" bIns="0"/>
            <a:lstStyle/>
            <a:p>
              <a:endParaRPr lang="en-US" sz="2400">
                <a:latin typeface="Calibri" panose="020F0502020204030204" pitchFamily="34" charset="0"/>
              </a:endParaRPr>
            </a:p>
          </p:txBody>
        </p:sp>
        <p:sp>
          <p:nvSpPr>
            <p:cNvPr id="11" name="Rectangle 17"/>
            <p:cNvSpPr/>
            <p:nvPr/>
          </p:nvSpPr>
          <p:spPr bwMode="auto">
            <a:xfrm>
              <a:off x="5282802" y="3257550"/>
              <a:ext cx="1619250" cy="352425"/>
            </a:xfrm>
            <a:prstGeom prst="rect">
              <a:avLst/>
            </a:prstGeom>
            <a:noFill/>
            <a:ln w="12700">
              <a:noFill/>
              <a:miter lim="800000"/>
            </a:ln>
          </p:spPr>
          <p:txBody>
            <a:bodyPr lIns="0" tIns="0" rIns="40639" bIns="0"/>
            <a:lstStyle/>
            <a:p>
              <a:pPr marL="39792" algn="ctr"/>
              <a:r>
                <a:rPr lang="en-US" sz="2400" b="1" dirty="0">
                  <a:latin typeface="Calibri" panose="020F0502020204030204" pitchFamily="34" charset="0"/>
                  <a:cs typeface="Arial" panose="020B0604020202020204" pitchFamily="34" charset="0"/>
                </a:rPr>
                <a:t>Environment</a:t>
              </a:r>
            </a:p>
          </p:txBody>
        </p:sp>
        <p:sp>
          <p:nvSpPr>
            <p:cNvPr id="12" name="Line 18"/>
            <p:cNvSpPr>
              <a:spLocks noChangeShapeType="1"/>
            </p:cNvSpPr>
            <p:nvPr/>
          </p:nvSpPr>
          <p:spPr bwMode="auto">
            <a:xfrm rot="10800000" flipH="1">
              <a:off x="3896915" y="3574256"/>
              <a:ext cx="1859756" cy="0"/>
            </a:xfrm>
            <a:prstGeom prst="line">
              <a:avLst/>
            </a:prstGeom>
            <a:noFill/>
            <a:ln w="25400">
              <a:solidFill>
                <a:schemeClr val="tx1"/>
              </a:solidFill>
              <a:round/>
              <a:headEnd type="stealth" w="med" len="med"/>
            </a:ln>
          </p:spPr>
          <p:txBody>
            <a:bodyPr lIns="91439" tIns="45719" rIns="91439" bIns="45719"/>
            <a:lstStyle/>
            <a:p>
              <a:endParaRPr lang="en-US" sz="2400">
                <a:latin typeface="Calibri" panose="020F0502020204030204" pitchFamily="34" charset="0"/>
              </a:endParaRPr>
            </a:p>
          </p:txBody>
        </p:sp>
        <p:sp>
          <p:nvSpPr>
            <p:cNvPr id="13" name="Line 19"/>
            <p:cNvSpPr>
              <a:spLocks noChangeShapeType="1"/>
            </p:cNvSpPr>
            <p:nvPr/>
          </p:nvSpPr>
          <p:spPr bwMode="auto">
            <a:xfrm flipH="1">
              <a:off x="3989783" y="4324350"/>
              <a:ext cx="1760934" cy="0"/>
            </a:xfrm>
            <a:prstGeom prst="line">
              <a:avLst/>
            </a:prstGeom>
            <a:noFill/>
            <a:ln w="25400">
              <a:solidFill>
                <a:schemeClr val="tx1"/>
              </a:solidFill>
              <a:round/>
              <a:headEnd type="stealth" w="med" len="med"/>
            </a:ln>
          </p:spPr>
          <p:txBody>
            <a:bodyPr lIns="91439" tIns="45719" rIns="91439" bIns="45719"/>
            <a:lstStyle/>
            <a:p>
              <a:endParaRPr lang="en-US" sz="2400">
                <a:latin typeface="Calibri" panose="020F0502020204030204" pitchFamily="34" charset="0"/>
              </a:endParaRPr>
            </a:p>
          </p:txBody>
        </p:sp>
        <p:sp>
          <p:nvSpPr>
            <p:cNvPr id="14" name="Rectangle 20"/>
            <p:cNvSpPr/>
            <p:nvPr/>
          </p:nvSpPr>
          <p:spPr bwMode="auto">
            <a:xfrm>
              <a:off x="4396977" y="3584972"/>
              <a:ext cx="942975" cy="266700"/>
            </a:xfrm>
            <a:prstGeom prst="rect">
              <a:avLst/>
            </a:prstGeom>
            <a:noFill/>
            <a:ln w="12700">
              <a:noFill/>
              <a:miter lim="800000"/>
            </a:ln>
          </p:spPr>
          <p:txBody>
            <a:bodyPr lIns="0" tIns="0" rIns="40639" bIns="0"/>
            <a:lstStyle/>
            <a:p>
              <a:pPr marL="39792" algn="ctr"/>
              <a:r>
                <a:rPr lang="en-US" sz="2133" dirty="0">
                  <a:latin typeface="Calibri" panose="020F0502020204030204" pitchFamily="34" charset="0"/>
                  <a:cs typeface="Arial" panose="020B0604020202020204" pitchFamily="34" charset="0"/>
                </a:rPr>
                <a:t>Percepts</a:t>
              </a:r>
            </a:p>
          </p:txBody>
        </p:sp>
        <p:sp>
          <p:nvSpPr>
            <p:cNvPr id="15" name="Rectangle 21"/>
            <p:cNvSpPr/>
            <p:nvPr/>
          </p:nvSpPr>
          <p:spPr bwMode="auto">
            <a:xfrm>
              <a:off x="4463652" y="4324350"/>
              <a:ext cx="809625" cy="304800"/>
            </a:xfrm>
            <a:prstGeom prst="rect">
              <a:avLst/>
            </a:prstGeom>
            <a:noFill/>
            <a:ln w="12700">
              <a:noFill/>
              <a:miter lim="800000"/>
            </a:ln>
          </p:spPr>
          <p:txBody>
            <a:bodyPr lIns="0" tIns="0" rIns="40639" bIns="0"/>
            <a:lstStyle/>
            <a:p>
              <a:pPr marL="39792" algn="ctr"/>
              <a:r>
                <a:rPr lang="en-US" sz="2133" dirty="0">
                  <a:latin typeface="Calibri" panose="020F0502020204030204" pitchFamily="34" charset="0"/>
                  <a:cs typeface="Arial" panose="020B0604020202020204" pitchFamily="34" charset="0"/>
                </a:rPr>
                <a:t>Actions</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Vacuum world</a:t>
            </a:r>
          </a:p>
        </p:txBody>
      </p:sp>
      <p:sp>
        <p:nvSpPr>
          <p:cNvPr id="3" name="Content Placeholder 2"/>
          <p:cNvSpPr>
            <a:spLocks noGrp="1"/>
          </p:cNvSpPr>
          <p:nvPr>
            <p:ph idx="1"/>
          </p:nvPr>
        </p:nvSpPr>
        <p:spPr>
          <a:xfrm>
            <a:off x="406400" y="4648203"/>
            <a:ext cx="11379200" cy="1477964"/>
          </a:xfrm>
        </p:spPr>
        <p:txBody>
          <a:bodyPr/>
          <a:lstStyle/>
          <a:p>
            <a:r>
              <a:rPr lang="en-US" dirty="0"/>
              <a:t>Percepts: </a:t>
            </a:r>
            <a:r>
              <a:rPr lang="en-US" dirty="0">
                <a:solidFill>
                  <a:srgbClr val="D500D6"/>
                </a:solidFill>
              </a:rPr>
              <a:t>[</a:t>
            </a:r>
            <a:r>
              <a:rPr lang="en-US" dirty="0" err="1">
                <a:solidFill>
                  <a:srgbClr val="D500D6"/>
                </a:solidFill>
              </a:rPr>
              <a:t>location,status</a:t>
            </a:r>
            <a:r>
              <a:rPr lang="en-US" dirty="0">
                <a:solidFill>
                  <a:srgbClr val="D500D6"/>
                </a:solidFill>
              </a:rPr>
              <a:t>]</a:t>
            </a:r>
            <a:r>
              <a:rPr lang="en-US" dirty="0"/>
              <a:t>, e.g., </a:t>
            </a:r>
            <a:r>
              <a:rPr lang="en-US" dirty="0">
                <a:solidFill>
                  <a:srgbClr val="D500D6"/>
                </a:solidFill>
              </a:rPr>
              <a:t>[</a:t>
            </a:r>
            <a:r>
              <a:rPr lang="en-US" i="1" dirty="0" err="1">
                <a:solidFill>
                  <a:srgbClr val="D500D6"/>
                </a:solidFill>
              </a:rPr>
              <a:t>A</a:t>
            </a:r>
            <a:r>
              <a:rPr lang="en-US" dirty="0" err="1">
                <a:solidFill>
                  <a:srgbClr val="D500D6"/>
                </a:solidFill>
              </a:rPr>
              <a:t>,</a:t>
            </a:r>
            <a:r>
              <a:rPr lang="en-US" i="1" dirty="0" err="1">
                <a:solidFill>
                  <a:srgbClr val="D500D6"/>
                </a:solidFill>
              </a:rPr>
              <a:t>Dirty</a:t>
            </a:r>
            <a:r>
              <a:rPr lang="en-US" dirty="0">
                <a:solidFill>
                  <a:srgbClr val="D500D6"/>
                </a:solidFill>
              </a:rPr>
              <a:t>]</a:t>
            </a:r>
          </a:p>
          <a:p>
            <a:r>
              <a:rPr lang="en-US" dirty="0"/>
              <a:t>Actions: </a:t>
            </a:r>
            <a:r>
              <a:rPr lang="en-US" i="1" dirty="0">
                <a:solidFill>
                  <a:srgbClr val="D500D6"/>
                </a:solidFill>
              </a:rPr>
              <a:t>Left</a:t>
            </a:r>
            <a:r>
              <a:rPr lang="en-US" dirty="0"/>
              <a:t>, </a:t>
            </a:r>
            <a:r>
              <a:rPr lang="en-US" i="1" dirty="0">
                <a:solidFill>
                  <a:srgbClr val="D500D6"/>
                </a:solidFill>
              </a:rPr>
              <a:t>Right</a:t>
            </a:r>
            <a:r>
              <a:rPr lang="en-US" dirty="0"/>
              <a:t>, </a:t>
            </a:r>
            <a:r>
              <a:rPr lang="en-US" i="1" dirty="0">
                <a:solidFill>
                  <a:srgbClr val="D500D6"/>
                </a:solidFill>
              </a:rPr>
              <a:t>Suck</a:t>
            </a:r>
            <a:r>
              <a:rPr lang="en-US" dirty="0"/>
              <a:t>, </a:t>
            </a:r>
            <a:r>
              <a:rPr lang="en-US" i="1" dirty="0" err="1">
                <a:solidFill>
                  <a:srgbClr val="D500D6"/>
                </a:solidFill>
              </a:rPr>
              <a:t>NoOp</a:t>
            </a:r>
            <a:endParaRPr lang="en-US" i="1" dirty="0">
              <a:solidFill>
                <a:srgbClr val="D500D6"/>
              </a:solidFill>
            </a:endParaRPr>
          </a:p>
        </p:txBody>
      </p:sp>
      <p:pic>
        <p:nvPicPr>
          <p:cNvPr id="5" name="Picture 4" descr="vacuum2-environment.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49603" y="1307949"/>
            <a:ext cx="5829724" cy="295925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Vacuum cleaner agent</a:t>
            </a:r>
          </a:p>
        </p:txBody>
      </p:sp>
      <p:graphicFrame>
        <p:nvGraphicFramePr>
          <p:cNvPr id="4" name="Table 3"/>
          <p:cNvGraphicFramePr>
            <a:graphicFrameLocks noGrp="1"/>
          </p:cNvGraphicFramePr>
          <p:nvPr/>
        </p:nvGraphicFramePr>
        <p:xfrm>
          <a:off x="203200" y="1905000"/>
          <a:ext cx="4470400" cy="3657600"/>
        </p:xfrm>
        <a:graphic>
          <a:graphicData uri="http://schemas.openxmlformats.org/drawingml/2006/table">
            <a:tbl>
              <a:tblPr firstRow="1" bandRow="1">
                <a:tableStyleId>{17292A2E-F333-43FB-9621-5CBBE7FDCDCB}</a:tableStyleId>
              </a:tblPr>
              <a:tblGrid>
                <a:gridCol w="2743200">
                  <a:extLst>
                    <a:ext uri="{9D8B030D-6E8A-4147-A177-3AD203B41FA5}">
                      <a16:colId xmlns:a16="http://schemas.microsoft.com/office/drawing/2014/main" val="20000"/>
                    </a:ext>
                  </a:extLst>
                </a:gridCol>
                <a:gridCol w="1727200">
                  <a:extLst>
                    <a:ext uri="{9D8B030D-6E8A-4147-A177-3AD203B41FA5}">
                      <a16:colId xmlns:a16="http://schemas.microsoft.com/office/drawing/2014/main" val="20001"/>
                    </a:ext>
                  </a:extLst>
                </a:gridCol>
              </a:tblGrid>
              <a:tr h="457200">
                <a:tc>
                  <a:txBody>
                    <a:bodyPr/>
                    <a:lstStyle/>
                    <a:p>
                      <a:r>
                        <a:rPr lang="en-US" sz="1900" dirty="0"/>
                        <a:t>Percept sequence</a:t>
                      </a:r>
                      <a:endParaRPr lang="en-US" sz="1900" dirty="0">
                        <a:solidFill>
                          <a:schemeClr val="tx1"/>
                        </a:solidFill>
                      </a:endParaRPr>
                    </a:p>
                  </a:txBody>
                  <a:tcPr marL="121920" marR="121920" marT="60960" marB="60960"/>
                </a:tc>
                <a:tc>
                  <a:txBody>
                    <a:bodyPr/>
                    <a:lstStyle/>
                    <a:p>
                      <a:r>
                        <a:rPr lang="en-US" sz="1900" dirty="0"/>
                        <a:t>Action</a:t>
                      </a:r>
                      <a:endParaRPr lang="en-US" sz="1900" dirty="0">
                        <a:solidFill>
                          <a:schemeClr val="tx1"/>
                        </a:solidFill>
                      </a:endParaRPr>
                    </a:p>
                  </a:txBody>
                  <a:tcPr marL="121920" marR="121920" marT="60960" marB="60960"/>
                </a:tc>
                <a:extLst>
                  <a:ext uri="{0D108BD9-81ED-4DB2-BD59-A6C34878D82A}">
                    <a16:rowId xmlns:a16="http://schemas.microsoft.com/office/drawing/2014/main" val="10000"/>
                  </a:ext>
                </a:extLst>
              </a:tr>
              <a:tr h="457200">
                <a:tc>
                  <a:txBody>
                    <a:bodyPr/>
                    <a:lstStyle/>
                    <a:p>
                      <a:r>
                        <a:rPr lang="en-US" sz="1900" dirty="0"/>
                        <a:t>[</a:t>
                      </a:r>
                      <a:r>
                        <a:rPr lang="en-US" sz="1900" dirty="0" err="1"/>
                        <a:t>A,Clean</a:t>
                      </a:r>
                      <a:r>
                        <a:rPr lang="en-US" sz="1900" dirty="0"/>
                        <a:t>]</a:t>
                      </a:r>
                      <a:endParaRPr lang="en-US" sz="1900" dirty="0">
                        <a:solidFill>
                          <a:schemeClr val="tx1"/>
                        </a:solidFill>
                      </a:endParaRPr>
                    </a:p>
                  </a:txBody>
                  <a:tcPr marL="121920" marR="121920" marT="60960" marB="60960"/>
                </a:tc>
                <a:tc>
                  <a:txBody>
                    <a:bodyPr/>
                    <a:lstStyle/>
                    <a:p>
                      <a:r>
                        <a:rPr lang="en-US" sz="1900" dirty="0"/>
                        <a:t>Right</a:t>
                      </a:r>
                      <a:endParaRPr lang="en-US" sz="1900" dirty="0">
                        <a:solidFill>
                          <a:schemeClr val="tx1"/>
                        </a:solidFill>
                      </a:endParaRPr>
                    </a:p>
                  </a:txBody>
                  <a:tcPr marL="121920" marR="121920" marT="60960" marB="60960"/>
                </a:tc>
                <a:extLst>
                  <a:ext uri="{0D108BD9-81ED-4DB2-BD59-A6C34878D82A}">
                    <a16:rowId xmlns:a16="http://schemas.microsoft.com/office/drawing/2014/main" val="10001"/>
                  </a:ext>
                </a:extLst>
              </a:tr>
              <a:tr h="457200">
                <a:tc>
                  <a:txBody>
                    <a:bodyPr/>
                    <a:lstStyle/>
                    <a:p>
                      <a:r>
                        <a:rPr lang="en-US" sz="1900" dirty="0">
                          <a:solidFill>
                            <a:schemeClr val="tx1"/>
                          </a:solidFill>
                        </a:rPr>
                        <a:t>[</a:t>
                      </a:r>
                      <a:r>
                        <a:rPr lang="en-US" sz="1900" dirty="0" err="1">
                          <a:solidFill>
                            <a:schemeClr val="tx1"/>
                          </a:solidFill>
                        </a:rPr>
                        <a:t>A,Dirty</a:t>
                      </a:r>
                      <a:r>
                        <a:rPr lang="en-US" sz="1900" dirty="0">
                          <a:solidFill>
                            <a:schemeClr val="tx1"/>
                          </a:solidFill>
                        </a:rPr>
                        <a:t>]</a:t>
                      </a:r>
                    </a:p>
                  </a:txBody>
                  <a:tcPr marL="121920" marR="121920" marT="60960" marB="60960"/>
                </a:tc>
                <a:tc>
                  <a:txBody>
                    <a:bodyPr/>
                    <a:lstStyle/>
                    <a:p>
                      <a:r>
                        <a:rPr lang="en-US" sz="1900" dirty="0">
                          <a:solidFill>
                            <a:schemeClr val="tx1"/>
                          </a:solidFill>
                        </a:rPr>
                        <a:t>Suck</a:t>
                      </a:r>
                    </a:p>
                  </a:txBody>
                  <a:tcPr marL="121920" marR="121920" marT="60960" marB="60960"/>
                </a:tc>
                <a:extLst>
                  <a:ext uri="{0D108BD9-81ED-4DB2-BD59-A6C34878D82A}">
                    <a16:rowId xmlns:a16="http://schemas.microsoft.com/office/drawing/2014/main" val="10002"/>
                  </a:ext>
                </a:extLst>
              </a:tr>
              <a:tr h="457200">
                <a:tc>
                  <a:txBody>
                    <a:bodyPr/>
                    <a:lstStyle/>
                    <a:p>
                      <a:r>
                        <a:rPr lang="en-US" sz="1900" dirty="0">
                          <a:solidFill>
                            <a:schemeClr val="tx1"/>
                          </a:solidFill>
                        </a:rPr>
                        <a:t>[</a:t>
                      </a:r>
                      <a:r>
                        <a:rPr lang="en-US" sz="1900" dirty="0" err="1">
                          <a:solidFill>
                            <a:schemeClr val="tx1"/>
                          </a:solidFill>
                        </a:rPr>
                        <a:t>B,Clean</a:t>
                      </a:r>
                      <a:r>
                        <a:rPr lang="en-US" sz="1900" dirty="0">
                          <a:solidFill>
                            <a:schemeClr val="tx1"/>
                          </a:solidFill>
                        </a:rPr>
                        <a:t>]</a:t>
                      </a:r>
                    </a:p>
                  </a:txBody>
                  <a:tcPr marL="121920" marR="121920" marT="60960" marB="60960"/>
                </a:tc>
                <a:tc>
                  <a:txBody>
                    <a:bodyPr/>
                    <a:lstStyle/>
                    <a:p>
                      <a:r>
                        <a:rPr lang="en-US" sz="1900" dirty="0">
                          <a:solidFill>
                            <a:schemeClr val="tx1"/>
                          </a:solidFill>
                        </a:rPr>
                        <a:t>Left</a:t>
                      </a:r>
                    </a:p>
                  </a:txBody>
                  <a:tcPr marL="121920" marR="121920" marT="60960" marB="60960"/>
                </a:tc>
                <a:extLst>
                  <a:ext uri="{0D108BD9-81ED-4DB2-BD59-A6C34878D82A}">
                    <a16:rowId xmlns:a16="http://schemas.microsoft.com/office/drawing/2014/main" val="10003"/>
                  </a:ext>
                </a:extLst>
              </a:tr>
              <a:tr h="457200">
                <a:tc>
                  <a:txBody>
                    <a:bodyPr/>
                    <a:lstStyle/>
                    <a:p>
                      <a:r>
                        <a:rPr lang="en-US" sz="1900" dirty="0">
                          <a:solidFill>
                            <a:schemeClr val="tx1"/>
                          </a:solidFill>
                        </a:rPr>
                        <a:t>[</a:t>
                      </a:r>
                      <a:r>
                        <a:rPr lang="en-US" sz="1900" dirty="0" err="1">
                          <a:solidFill>
                            <a:schemeClr val="tx1"/>
                          </a:solidFill>
                        </a:rPr>
                        <a:t>B,Dirty</a:t>
                      </a:r>
                      <a:r>
                        <a:rPr lang="en-US" sz="1900" dirty="0">
                          <a:solidFill>
                            <a:schemeClr val="tx1"/>
                          </a:solidFill>
                        </a:rPr>
                        <a:t>]</a:t>
                      </a:r>
                    </a:p>
                  </a:txBody>
                  <a:tcPr marL="121920" marR="121920" marT="60960" marB="60960"/>
                </a:tc>
                <a:tc>
                  <a:txBody>
                    <a:bodyPr/>
                    <a:lstStyle/>
                    <a:p>
                      <a:r>
                        <a:rPr lang="en-US" sz="1900" dirty="0">
                          <a:solidFill>
                            <a:schemeClr val="tx1"/>
                          </a:solidFill>
                        </a:rPr>
                        <a:t>Suck</a:t>
                      </a:r>
                    </a:p>
                  </a:txBody>
                  <a:tcPr marL="121920" marR="121920" marT="60960" marB="60960"/>
                </a:tc>
                <a:extLst>
                  <a:ext uri="{0D108BD9-81ED-4DB2-BD59-A6C34878D82A}">
                    <a16:rowId xmlns:a16="http://schemas.microsoft.com/office/drawing/2014/main" val="10004"/>
                  </a:ext>
                </a:extLst>
              </a:tr>
              <a:tr h="457200">
                <a:tc>
                  <a:txBody>
                    <a:bodyPr/>
                    <a:lstStyle/>
                    <a:p>
                      <a:r>
                        <a:rPr lang="en-US" sz="1900" dirty="0">
                          <a:solidFill>
                            <a:schemeClr val="tx1"/>
                          </a:solidFill>
                        </a:rPr>
                        <a:t>[</a:t>
                      </a:r>
                      <a:r>
                        <a:rPr lang="en-US" sz="1900" dirty="0" err="1">
                          <a:solidFill>
                            <a:schemeClr val="tx1"/>
                          </a:solidFill>
                        </a:rPr>
                        <a:t>A,Clean</a:t>
                      </a:r>
                      <a:r>
                        <a:rPr lang="en-US" sz="1900" dirty="0">
                          <a:solidFill>
                            <a:schemeClr val="tx1"/>
                          </a:solidFill>
                        </a:rPr>
                        <a:t>],[</a:t>
                      </a:r>
                      <a:r>
                        <a:rPr lang="en-US" sz="1900" dirty="0" err="1">
                          <a:solidFill>
                            <a:schemeClr val="tx1"/>
                          </a:solidFill>
                        </a:rPr>
                        <a:t>B,Clean</a:t>
                      </a:r>
                      <a:r>
                        <a:rPr lang="en-US" sz="1900" dirty="0">
                          <a:solidFill>
                            <a:schemeClr val="tx1"/>
                          </a:solidFill>
                        </a:rPr>
                        <a:t>]</a:t>
                      </a:r>
                    </a:p>
                  </a:txBody>
                  <a:tcPr marL="121920" marR="121920" marT="60960" marB="60960"/>
                </a:tc>
                <a:tc>
                  <a:txBody>
                    <a:bodyPr/>
                    <a:lstStyle/>
                    <a:p>
                      <a:r>
                        <a:rPr lang="en-US" sz="1900" dirty="0">
                          <a:solidFill>
                            <a:schemeClr val="tx1"/>
                          </a:solidFill>
                        </a:rPr>
                        <a:t>Left</a:t>
                      </a:r>
                    </a:p>
                  </a:txBody>
                  <a:tcPr marL="121920" marR="121920" marT="60960" marB="60960"/>
                </a:tc>
                <a:extLst>
                  <a:ext uri="{0D108BD9-81ED-4DB2-BD59-A6C34878D82A}">
                    <a16:rowId xmlns:a16="http://schemas.microsoft.com/office/drawing/2014/main" val="10005"/>
                  </a:ext>
                </a:extLst>
              </a:tr>
              <a:tr h="457200">
                <a:tc>
                  <a:txBody>
                    <a:bodyPr/>
                    <a:lstStyle/>
                    <a:p>
                      <a:r>
                        <a:rPr lang="en-US" sz="1900" dirty="0">
                          <a:solidFill>
                            <a:schemeClr val="tx1"/>
                          </a:solidFill>
                        </a:rPr>
                        <a:t>[</a:t>
                      </a:r>
                      <a:r>
                        <a:rPr lang="en-US" sz="1900" dirty="0" err="1">
                          <a:solidFill>
                            <a:schemeClr val="tx1"/>
                          </a:solidFill>
                        </a:rPr>
                        <a:t>A,Clean</a:t>
                      </a:r>
                      <a:r>
                        <a:rPr lang="en-US" sz="1900" dirty="0">
                          <a:solidFill>
                            <a:schemeClr val="tx1"/>
                          </a:solidFill>
                        </a:rPr>
                        <a:t>],[</a:t>
                      </a:r>
                      <a:r>
                        <a:rPr lang="en-US" sz="1900" dirty="0" err="1">
                          <a:solidFill>
                            <a:schemeClr val="tx1"/>
                          </a:solidFill>
                        </a:rPr>
                        <a:t>B,Dirty</a:t>
                      </a:r>
                      <a:r>
                        <a:rPr lang="en-US" sz="1900" dirty="0">
                          <a:solidFill>
                            <a:schemeClr val="tx1"/>
                          </a:solidFill>
                        </a:rPr>
                        <a:t>]</a:t>
                      </a:r>
                    </a:p>
                  </a:txBody>
                  <a:tcPr marL="121920" marR="121920" marT="60960" marB="60960"/>
                </a:tc>
                <a:tc>
                  <a:txBody>
                    <a:bodyPr/>
                    <a:lstStyle/>
                    <a:p>
                      <a:r>
                        <a:rPr lang="en-US" sz="1900" dirty="0">
                          <a:solidFill>
                            <a:schemeClr val="tx1"/>
                          </a:solidFill>
                        </a:rPr>
                        <a:t>Suck</a:t>
                      </a:r>
                    </a:p>
                  </a:txBody>
                  <a:tcPr marL="121920" marR="121920" marT="60960" marB="60960"/>
                </a:tc>
                <a:extLst>
                  <a:ext uri="{0D108BD9-81ED-4DB2-BD59-A6C34878D82A}">
                    <a16:rowId xmlns:a16="http://schemas.microsoft.com/office/drawing/2014/main" val="10006"/>
                  </a:ext>
                </a:extLst>
              </a:tr>
              <a:tr h="457200">
                <a:tc>
                  <a:txBody>
                    <a:bodyPr/>
                    <a:lstStyle/>
                    <a:p>
                      <a:r>
                        <a:rPr lang="en-US" sz="1900" dirty="0" err="1">
                          <a:solidFill>
                            <a:schemeClr val="tx1"/>
                          </a:solidFill>
                        </a:rPr>
                        <a:t>etc</a:t>
                      </a:r>
                      <a:endParaRPr lang="en-US" sz="1900" dirty="0">
                        <a:solidFill>
                          <a:schemeClr val="tx1"/>
                        </a:solidFill>
                      </a:endParaRPr>
                    </a:p>
                  </a:txBody>
                  <a:tcPr marL="121920" marR="121920" marT="60960" marB="60960"/>
                </a:tc>
                <a:tc>
                  <a:txBody>
                    <a:bodyPr/>
                    <a:lstStyle/>
                    <a:p>
                      <a:r>
                        <a:rPr lang="en-US" sz="1900" dirty="0" err="1">
                          <a:solidFill>
                            <a:schemeClr val="tx1"/>
                          </a:solidFill>
                        </a:rPr>
                        <a:t>etc</a:t>
                      </a:r>
                      <a:endParaRPr lang="en-US" sz="1900" dirty="0">
                        <a:solidFill>
                          <a:schemeClr val="tx1"/>
                        </a:solidFill>
                      </a:endParaRPr>
                    </a:p>
                  </a:txBody>
                  <a:tcPr marL="121920" marR="121920" marT="60960" marB="60960"/>
                </a:tc>
                <a:extLst>
                  <a:ext uri="{0D108BD9-81ED-4DB2-BD59-A6C34878D82A}">
                    <a16:rowId xmlns:a16="http://schemas.microsoft.com/office/drawing/2014/main" val="10007"/>
                  </a:ext>
                </a:extLst>
              </a:tr>
            </a:tbl>
          </a:graphicData>
        </a:graphic>
      </p:graphicFrame>
      <p:sp>
        <p:nvSpPr>
          <p:cNvPr id="5" name="TextBox 4"/>
          <p:cNvSpPr txBox="1"/>
          <p:nvPr/>
        </p:nvSpPr>
        <p:spPr>
          <a:xfrm>
            <a:off x="1016004" y="1193804"/>
            <a:ext cx="2134864" cy="492434"/>
          </a:xfrm>
          <a:prstGeom prst="rect">
            <a:avLst/>
          </a:prstGeom>
          <a:noFill/>
        </p:spPr>
        <p:txBody>
          <a:bodyPr wrap="none" lIns="121912" tIns="60956" rIns="121912" bIns="60956" rtlCol="0">
            <a:spAutoFit/>
          </a:bodyPr>
          <a:lstStyle/>
          <a:p>
            <a:r>
              <a:rPr lang="en-US" sz="2400" b="1" i="1" dirty="0">
                <a:solidFill>
                  <a:srgbClr val="FF0000"/>
                </a:solidFill>
                <a:latin typeface="Calibri" panose="020F0502020204030204"/>
                <a:cs typeface="Calibri" panose="020F0502020204030204"/>
              </a:rPr>
              <a:t>Agent function</a:t>
            </a:r>
          </a:p>
        </p:txBody>
      </p:sp>
      <p:sp>
        <p:nvSpPr>
          <p:cNvPr id="6" name="TextBox 5"/>
          <p:cNvSpPr txBox="1"/>
          <p:nvPr/>
        </p:nvSpPr>
        <p:spPr>
          <a:xfrm>
            <a:off x="7010404" y="1193804"/>
            <a:ext cx="2192572" cy="492434"/>
          </a:xfrm>
          <a:prstGeom prst="rect">
            <a:avLst/>
          </a:prstGeom>
          <a:noFill/>
        </p:spPr>
        <p:txBody>
          <a:bodyPr wrap="none" lIns="121912" tIns="60956" rIns="121912" bIns="60956" rtlCol="0">
            <a:spAutoFit/>
          </a:bodyPr>
          <a:lstStyle/>
          <a:p>
            <a:r>
              <a:rPr lang="en-US" sz="2400" b="1" i="1" dirty="0">
                <a:solidFill>
                  <a:srgbClr val="FF0000"/>
                </a:solidFill>
                <a:latin typeface="Calibri" panose="020F0502020204030204"/>
                <a:cs typeface="Calibri" panose="020F0502020204030204"/>
              </a:rPr>
              <a:t>Agent program</a:t>
            </a:r>
          </a:p>
        </p:txBody>
      </p:sp>
      <p:sp>
        <p:nvSpPr>
          <p:cNvPr id="7" name="TextBox 6"/>
          <p:cNvSpPr txBox="1"/>
          <p:nvPr/>
        </p:nvSpPr>
        <p:spPr>
          <a:xfrm>
            <a:off x="4978402" y="1803402"/>
            <a:ext cx="6339604" cy="2339094"/>
          </a:xfrm>
          <a:prstGeom prst="rect">
            <a:avLst/>
          </a:prstGeom>
          <a:noFill/>
        </p:spPr>
        <p:txBody>
          <a:bodyPr wrap="none" lIns="121912" tIns="60956" rIns="121912" bIns="60956" rtlCol="0">
            <a:spAutoFit/>
          </a:bodyPr>
          <a:lstStyle/>
          <a:p>
            <a:r>
              <a:rPr lang="en-US" sz="2400" b="1" dirty="0"/>
              <a:t>function</a:t>
            </a:r>
            <a:r>
              <a:rPr lang="en-US" sz="2400" dirty="0"/>
              <a:t> Reflex-Vacuum-Agent([</a:t>
            </a:r>
            <a:r>
              <a:rPr lang="en-US" sz="2400" dirty="0" err="1"/>
              <a:t>location,status</a:t>
            </a:r>
            <a:r>
              <a:rPr lang="en-US" sz="2400" dirty="0"/>
              <a:t>]) </a:t>
            </a:r>
          </a:p>
          <a:p>
            <a:r>
              <a:rPr lang="en-US" sz="2400" dirty="0"/>
              <a:t>	</a:t>
            </a:r>
            <a:r>
              <a:rPr lang="en-US" sz="2400" b="1" dirty="0"/>
              <a:t>returns</a:t>
            </a:r>
            <a:r>
              <a:rPr lang="en-US" sz="2400" dirty="0"/>
              <a:t> an action </a:t>
            </a:r>
          </a:p>
          <a:p>
            <a:r>
              <a:rPr lang="en-US" sz="2400" b="1" dirty="0"/>
              <a:t>if</a:t>
            </a:r>
            <a:r>
              <a:rPr lang="en-US" sz="2400" dirty="0"/>
              <a:t> status = Dirty </a:t>
            </a:r>
            <a:r>
              <a:rPr lang="en-US" sz="2400" b="1" dirty="0"/>
              <a:t>then return </a:t>
            </a:r>
            <a:r>
              <a:rPr lang="en-US" sz="2400" dirty="0"/>
              <a:t>Suck </a:t>
            </a:r>
          </a:p>
          <a:p>
            <a:r>
              <a:rPr lang="en-US" sz="2400" b="1" dirty="0"/>
              <a:t>else if </a:t>
            </a:r>
            <a:r>
              <a:rPr lang="en-US" sz="2400" dirty="0"/>
              <a:t>location = A </a:t>
            </a:r>
            <a:r>
              <a:rPr lang="en-US" sz="2400" b="1" dirty="0"/>
              <a:t>then return </a:t>
            </a:r>
            <a:r>
              <a:rPr lang="en-US" sz="2400" dirty="0"/>
              <a:t>Right </a:t>
            </a:r>
          </a:p>
          <a:p>
            <a:r>
              <a:rPr lang="en-US" sz="2400" b="1" dirty="0"/>
              <a:t>else if </a:t>
            </a:r>
            <a:r>
              <a:rPr lang="en-US" sz="2400" dirty="0"/>
              <a:t>location = B </a:t>
            </a:r>
            <a:r>
              <a:rPr lang="en-US" sz="2400" b="1" dirty="0"/>
              <a:t>then return </a:t>
            </a:r>
            <a:r>
              <a:rPr lang="en-US" sz="2400" dirty="0"/>
              <a:t>Left </a:t>
            </a:r>
          </a:p>
          <a:p>
            <a:endParaRPr lang="en-US" sz="2400" dirty="0" err="1">
              <a:latin typeface="Calibri" panose="020F0502020204030204"/>
              <a:cs typeface="Calibri" panose="020F0502020204030204"/>
            </a:endParaRPr>
          </a:p>
        </p:txBody>
      </p:sp>
      <p:sp>
        <p:nvSpPr>
          <p:cNvPr id="8" name="TextBox 7"/>
          <p:cNvSpPr txBox="1"/>
          <p:nvPr/>
        </p:nvSpPr>
        <p:spPr>
          <a:xfrm>
            <a:off x="5080000" y="4546600"/>
            <a:ext cx="4845798" cy="533536"/>
          </a:xfrm>
          <a:prstGeom prst="rect">
            <a:avLst/>
          </a:prstGeom>
          <a:noFill/>
        </p:spPr>
        <p:txBody>
          <a:bodyPr wrap="none" lIns="121912" tIns="60956" rIns="121912" bIns="60956" rtlCol="0">
            <a:spAutoFit/>
          </a:bodyPr>
          <a:lstStyle/>
          <a:p>
            <a:r>
              <a:rPr lang="en-US" sz="2667" dirty="0">
                <a:latin typeface="Calibri" panose="020F0502020204030204"/>
                <a:cs typeface="Calibri" panose="020F0502020204030204"/>
              </a:rPr>
              <a:t>What is the </a:t>
            </a:r>
            <a:r>
              <a:rPr lang="en-US" sz="2667" b="1" i="1" dirty="0">
                <a:solidFill>
                  <a:srgbClr val="0000FF"/>
                </a:solidFill>
                <a:latin typeface="Calibri" panose="020F0502020204030204"/>
                <a:cs typeface="Calibri" panose="020F0502020204030204"/>
              </a:rPr>
              <a:t>right</a:t>
            </a:r>
            <a:r>
              <a:rPr lang="en-US" sz="2667" dirty="0">
                <a:latin typeface="Calibri" panose="020F0502020204030204"/>
                <a:cs typeface="Calibri" panose="020F0502020204030204"/>
              </a:rPr>
              <a:t> agent function?</a:t>
            </a:r>
          </a:p>
        </p:txBody>
      </p:sp>
      <p:sp>
        <p:nvSpPr>
          <p:cNvPr id="9" name="TextBox 8"/>
          <p:cNvSpPr txBox="1"/>
          <p:nvPr/>
        </p:nvSpPr>
        <p:spPr>
          <a:xfrm>
            <a:off x="5080001" y="5171760"/>
            <a:ext cx="7131423" cy="533536"/>
          </a:xfrm>
          <a:prstGeom prst="rect">
            <a:avLst/>
          </a:prstGeom>
          <a:noFill/>
        </p:spPr>
        <p:txBody>
          <a:bodyPr wrap="none" lIns="121912" tIns="60956" rIns="121912" bIns="60956" rtlCol="0">
            <a:spAutoFit/>
          </a:bodyPr>
          <a:lstStyle/>
          <a:p>
            <a:r>
              <a:rPr lang="en-US" sz="2667" dirty="0">
                <a:latin typeface="Calibri" panose="020F0502020204030204"/>
                <a:cs typeface="Calibri" panose="020F0502020204030204"/>
              </a:rPr>
              <a:t>Can it be implemented by a small agent program?</a:t>
            </a:r>
          </a:p>
        </p:txBody>
      </p:sp>
      <p:sp>
        <p:nvSpPr>
          <p:cNvPr id="10" name="TextBox 9"/>
          <p:cNvSpPr txBox="1"/>
          <p:nvPr/>
        </p:nvSpPr>
        <p:spPr>
          <a:xfrm>
            <a:off x="914405" y="6172204"/>
            <a:ext cx="6362495" cy="492434"/>
          </a:xfrm>
          <a:prstGeom prst="rect">
            <a:avLst/>
          </a:prstGeom>
          <a:noFill/>
        </p:spPr>
        <p:txBody>
          <a:bodyPr wrap="none" lIns="121912" tIns="60956" rIns="121912" bIns="60956" rtlCol="0">
            <a:spAutoFit/>
          </a:bodyPr>
          <a:lstStyle/>
          <a:p>
            <a:r>
              <a:rPr lang="en-US" sz="2400" dirty="0">
                <a:latin typeface="Calibri" panose="020F0502020204030204"/>
                <a:cs typeface="Calibri" panose="020F0502020204030204"/>
              </a:rPr>
              <a:t>(Can we ask, “What is the right agent program?”)</a:t>
            </a:r>
          </a:p>
        </p:txBody>
      </p:sp>
      <p:pic>
        <p:nvPicPr>
          <p:cNvPr id="11" name="Picture 10" descr="vacuum2-environment.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58400" y="5"/>
            <a:ext cx="2133600" cy="108304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Rationality</a:t>
            </a:r>
          </a:p>
        </p:txBody>
      </p:sp>
      <p:sp>
        <p:nvSpPr>
          <p:cNvPr id="3" name="Content Placeholder 2"/>
          <p:cNvSpPr>
            <a:spLocks noGrp="1"/>
          </p:cNvSpPr>
          <p:nvPr>
            <p:ph idx="1"/>
          </p:nvPr>
        </p:nvSpPr>
        <p:spPr>
          <a:xfrm>
            <a:off x="406400" y="1397003"/>
            <a:ext cx="11785600" cy="4729164"/>
          </a:xfrm>
        </p:spPr>
        <p:txBody>
          <a:bodyPr/>
          <a:lstStyle/>
          <a:p>
            <a:r>
              <a:rPr lang="en-US" dirty="0"/>
              <a:t>Fixed </a:t>
            </a:r>
            <a:r>
              <a:rPr lang="en-US" b="1" i="1" dirty="0">
                <a:solidFill>
                  <a:srgbClr val="FF0000"/>
                </a:solidFill>
              </a:rPr>
              <a:t>performance measure </a:t>
            </a:r>
            <a:r>
              <a:rPr lang="en-US" dirty="0"/>
              <a:t>evaluates the environment sequence</a:t>
            </a:r>
          </a:p>
          <a:p>
            <a:pPr lvl="1"/>
            <a:r>
              <a:rPr lang="en-US" dirty="0"/>
              <a:t>one point per square cleaned up?</a:t>
            </a:r>
          </a:p>
          <a:p>
            <a:pPr lvl="2"/>
            <a:r>
              <a:rPr lang="en-US" dirty="0"/>
              <a:t>NO! Rewards an agent who dumps dirt and cleans it up</a:t>
            </a:r>
          </a:p>
          <a:p>
            <a:pPr lvl="1"/>
            <a:r>
              <a:rPr lang="en-US" dirty="0"/>
              <a:t>one point per clean square per time step, for t = 1,…,T</a:t>
            </a:r>
          </a:p>
          <a:p>
            <a:r>
              <a:rPr lang="en-US" dirty="0"/>
              <a:t>A </a:t>
            </a:r>
            <a:r>
              <a:rPr lang="en-US" b="1" i="1" dirty="0">
                <a:solidFill>
                  <a:srgbClr val="FF0000"/>
                </a:solidFill>
              </a:rPr>
              <a:t>rational agent </a:t>
            </a:r>
            <a:r>
              <a:rPr lang="en-US" dirty="0"/>
              <a:t>chooses whichever action maximizes the </a:t>
            </a:r>
            <a:r>
              <a:rPr lang="en-US" b="1" i="1" dirty="0">
                <a:solidFill>
                  <a:srgbClr val="0000FF"/>
                </a:solidFill>
              </a:rPr>
              <a:t>expected</a:t>
            </a:r>
            <a:r>
              <a:rPr lang="en-US" dirty="0"/>
              <a:t> value of the performance measure </a:t>
            </a:r>
          </a:p>
          <a:p>
            <a:pPr lvl="1"/>
            <a:r>
              <a:rPr lang="en-US" dirty="0"/>
              <a:t>given the percept sequence to date and prior knowledge of environment</a:t>
            </a:r>
          </a:p>
          <a:p>
            <a:pPr marL="0" indent="0">
              <a:buNone/>
            </a:pPr>
            <a:r>
              <a:rPr lang="en-US" dirty="0"/>
              <a:t>Does Reflex-Vacuum-Agent implement a rational agent function?</a:t>
            </a:r>
          </a:p>
          <a:p>
            <a:pPr marL="0" indent="0">
              <a:buNone/>
            </a:pPr>
            <a:r>
              <a:rPr lang="en-US" dirty="0"/>
              <a:t>	Yes, if movement is free, or new dirt arrives frequently</a:t>
            </a:r>
          </a:p>
          <a:p>
            <a:endParaRPr lang="en-US" dirty="0"/>
          </a:p>
          <a:p>
            <a:endParaRPr lang="en-US" dirty="0"/>
          </a:p>
        </p:txBody>
      </p:sp>
      <p:pic>
        <p:nvPicPr>
          <p:cNvPr id="4" name="Picture 3" descr="vacuum2-environment.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58400" y="5"/>
            <a:ext cx="2133600" cy="108304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1"/>
          <p:cNvPicPr>
            <a:picLocks noChangeAspect="1" noChangeArrowheads="1"/>
          </p:cNvPicPr>
          <p:nvPr/>
        </p:nvPicPr>
        <p:blipFill>
          <a:blip r:embed="rId3" cstate="print"/>
          <a:srcRect/>
          <a:stretch>
            <a:fillRect/>
          </a:stretch>
        </p:blipFill>
        <p:spPr bwMode="auto">
          <a:xfrm>
            <a:off x="2946400" y="1295400"/>
            <a:ext cx="6192712" cy="2743200"/>
          </a:xfrm>
          <a:prstGeom prst="rect">
            <a:avLst/>
          </a:prstGeom>
          <a:noFill/>
          <a:ln w="12700">
            <a:noFill/>
            <a:miter lim="800000"/>
            <a:headEnd/>
            <a:tailEnd/>
          </a:ln>
        </p:spPr>
      </p:pic>
      <p:sp>
        <p:nvSpPr>
          <p:cNvPr id="23556" name="Rectangle 5"/>
          <p:cNvSpPr>
            <a:spLocks noGrp="1" noChangeArrowheads="1"/>
          </p:cNvSpPr>
          <p:nvPr>
            <p:ph type="title"/>
          </p:nvPr>
        </p:nvSpPr>
        <p:spPr/>
        <p:txBody>
          <a:bodyPr vert="horz" lIns="91440" tIns="45720" rIns="132077" bIns="45720" rtlCol="0" anchor="ctr">
            <a:normAutofit/>
          </a:bodyPr>
          <a:lstStyle/>
          <a:p>
            <a:r>
              <a:rPr lang="en-US" dirty="0"/>
              <a:t>Pac-Man as an Agent</a:t>
            </a:r>
          </a:p>
        </p:txBody>
      </p:sp>
      <p:sp>
        <p:nvSpPr>
          <p:cNvPr id="23557" name="AutoShape 7"/>
          <p:cNvSpPr/>
          <p:nvPr/>
        </p:nvSpPr>
        <p:spPr bwMode="auto">
          <a:xfrm>
            <a:off x="2946401" y="4267197"/>
            <a:ext cx="2873375" cy="1746251"/>
          </a:xfrm>
          <a:prstGeom prst="roundRect">
            <a:avLst>
              <a:gd name="adj" fmla="val 10912"/>
            </a:avLst>
          </a:prstGeom>
          <a:solidFill>
            <a:srgbClr val="9FB0D1"/>
          </a:solidFill>
          <a:ln w="12700">
            <a:solidFill>
              <a:schemeClr val="tx1"/>
            </a:solidFill>
            <a:round/>
          </a:ln>
        </p:spPr>
        <p:txBody>
          <a:bodyPr lIns="0" tIns="0" rIns="0" bIns="0"/>
          <a:lstStyle/>
          <a:p>
            <a:endParaRPr lang="en-US" sz="2400">
              <a:latin typeface="Calibri" panose="020F0502020204030204" pitchFamily="34" charset="0"/>
            </a:endParaRPr>
          </a:p>
        </p:txBody>
      </p:sp>
      <p:sp>
        <p:nvSpPr>
          <p:cNvPr id="23558" name="Line 8"/>
          <p:cNvSpPr>
            <a:spLocks noChangeShapeType="1"/>
          </p:cNvSpPr>
          <p:nvPr/>
        </p:nvSpPr>
        <p:spPr bwMode="auto">
          <a:xfrm rot="10800000" flipH="1">
            <a:off x="4433885" y="4896894"/>
            <a:ext cx="0" cy="708025"/>
          </a:xfrm>
          <a:prstGeom prst="line">
            <a:avLst/>
          </a:prstGeom>
          <a:noFill/>
          <a:ln w="25400">
            <a:solidFill>
              <a:schemeClr val="tx1"/>
            </a:solidFill>
            <a:round/>
            <a:headEnd type="stealth" w="med" len="med"/>
          </a:ln>
        </p:spPr>
        <p:txBody>
          <a:bodyPr lIns="91439" tIns="45719" rIns="91439" bIns="45719"/>
          <a:lstStyle/>
          <a:p>
            <a:endParaRPr lang="en-US" sz="2400">
              <a:latin typeface="Calibri" panose="020F0502020204030204" pitchFamily="34" charset="0"/>
            </a:endParaRPr>
          </a:p>
        </p:txBody>
      </p:sp>
      <p:sp>
        <p:nvSpPr>
          <p:cNvPr id="23559" name="Rectangle 9"/>
          <p:cNvSpPr/>
          <p:nvPr/>
        </p:nvSpPr>
        <p:spPr bwMode="auto">
          <a:xfrm>
            <a:off x="3048001" y="4302123"/>
            <a:ext cx="1054100" cy="469900"/>
          </a:xfrm>
          <a:prstGeom prst="rect">
            <a:avLst/>
          </a:prstGeom>
          <a:noFill/>
          <a:ln w="12700">
            <a:noFill/>
            <a:miter lim="800000"/>
          </a:ln>
        </p:spPr>
        <p:txBody>
          <a:bodyPr lIns="0" tIns="0" rIns="40639" bIns="0"/>
          <a:lstStyle/>
          <a:p>
            <a:pPr marL="39792"/>
            <a:r>
              <a:rPr lang="en-US" sz="2400" b="1" dirty="0">
                <a:latin typeface="Calibri" panose="020F0502020204030204" pitchFamily="34" charset="0"/>
                <a:cs typeface="Arial" panose="020B0604020202020204" pitchFamily="34" charset="0"/>
              </a:rPr>
              <a:t>Agent</a:t>
            </a:r>
          </a:p>
        </p:txBody>
      </p:sp>
      <p:grpSp>
        <p:nvGrpSpPr>
          <p:cNvPr id="23560" name="Group 10"/>
          <p:cNvGrpSpPr/>
          <p:nvPr/>
        </p:nvGrpSpPr>
        <p:grpSpPr bwMode="auto">
          <a:xfrm>
            <a:off x="4103685" y="4998492"/>
            <a:ext cx="635000" cy="431800"/>
            <a:chOff x="0" y="0"/>
            <a:chExt cx="400" cy="272"/>
          </a:xfrm>
        </p:grpSpPr>
        <p:sp>
          <p:nvSpPr>
            <p:cNvPr id="23571" name="AutoShape 11"/>
            <p:cNvSpPr/>
            <p:nvPr/>
          </p:nvSpPr>
          <p:spPr bwMode="auto">
            <a:xfrm>
              <a:off x="0" y="0"/>
              <a:ext cx="400" cy="272"/>
            </a:xfrm>
            <a:prstGeom prst="roundRect">
              <a:avLst>
                <a:gd name="adj" fmla="val 28120"/>
              </a:avLst>
            </a:prstGeom>
            <a:solidFill>
              <a:srgbClr val="FFFFFF"/>
            </a:solidFill>
            <a:ln w="12700">
              <a:solidFill>
                <a:schemeClr val="tx1"/>
              </a:solidFill>
              <a:round/>
            </a:ln>
          </p:spPr>
          <p:txBody>
            <a:bodyPr lIns="0" tIns="0" rIns="0" bIns="0"/>
            <a:lstStyle/>
            <a:p>
              <a:endParaRPr lang="en-US" sz="2400">
                <a:latin typeface="Calibri" panose="020F0502020204030204" pitchFamily="34" charset="0"/>
              </a:endParaRPr>
            </a:p>
          </p:txBody>
        </p:sp>
        <p:sp>
          <p:nvSpPr>
            <p:cNvPr id="23572" name="Rectangle 12"/>
            <p:cNvSpPr/>
            <p:nvPr/>
          </p:nvSpPr>
          <p:spPr bwMode="auto">
            <a:xfrm>
              <a:off x="135" y="32"/>
              <a:ext cx="139" cy="236"/>
            </a:xfrm>
            <a:prstGeom prst="rect">
              <a:avLst/>
            </a:prstGeom>
            <a:noFill/>
            <a:ln w="12700">
              <a:noFill/>
              <a:miter lim="800000"/>
            </a:ln>
          </p:spPr>
          <p:txBody>
            <a:bodyPr lIns="0" tIns="0" rIns="54185" bIns="0"/>
            <a:lstStyle/>
            <a:p>
              <a:pPr marL="39792" algn="ctr"/>
              <a:r>
                <a:rPr lang="en-US" sz="2400" b="1" dirty="0">
                  <a:latin typeface="Calibri" panose="020F0502020204030204" pitchFamily="34" charset="0"/>
                  <a:cs typeface="Arial" panose="020B0604020202020204" pitchFamily="34" charset="0"/>
                </a:rPr>
                <a:t>?</a:t>
              </a:r>
            </a:p>
          </p:txBody>
        </p:sp>
      </p:grpSp>
      <p:grpSp>
        <p:nvGrpSpPr>
          <p:cNvPr id="23561" name="Group 13"/>
          <p:cNvGrpSpPr/>
          <p:nvPr/>
        </p:nvGrpSpPr>
        <p:grpSpPr bwMode="auto">
          <a:xfrm>
            <a:off x="3665536" y="4533901"/>
            <a:ext cx="1473200" cy="1412876"/>
            <a:chOff x="0" y="-6"/>
            <a:chExt cx="928" cy="890"/>
          </a:xfrm>
        </p:grpSpPr>
        <p:sp>
          <p:nvSpPr>
            <p:cNvPr id="23569" name="Rectangle 14"/>
            <p:cNvSpPr/>
            <p:nvPr/>
          </p:nvSpPr>
          <p:spPr bwMode="auto">
            <a:xfrm>
              <a:off x="52" y="-6"/>
              <a:ext cx="824" cy="304"/>
            </a:xfrm>
            <a:prstGeom prst="rect">
              <a:avLst/>
            </a:prstGeom>
            <a:noFill/>
            <a:ln w="12700">
              <a:noFill/>
              <a:miter lim="800000"/>
            </a:ln>
          </p:spPr>
          <p:txBody>
            <a:bodyPr lIns="0" tIns="0" rIns="54185" bIns="0"/>
            <a:lstStyle/>
            <a:p>
              <a:pPr marL="39792" algn="ctr"/>
              <a:r>
                <a:rPr lang="en-US" sz="2400" dirty="0">
                  <a:latin typeface="Calibri" panose="020F0502020204030204" pitchFamily="34" charset="0"/>
                  <a:cs typeface="Arial" panose="020B0604020202020204" pitchFamily="34" charset="0"/>
                </a:rPr>
                <a:t>Sensors</a:t>
              </a:r>
            </a:p>
          </p:txBody>
        </p:sp>
        <p:sp>
          <p:nvSpPr>
            <p:cNvPr id="23570" name="Rectangle 15"/>
            <p:cNvSpPr/>
            <p:nvPr/>
          </p:nvSpPr>
          <p:spPr bwMode="auto">
            <a:xfrm>
              <a:off x="0" y="636"/>
              <a:ext cx="928" cy="248"/>
            </a:xfrm>
            <a:prstGeom prst="rect">
              <a:avLst/>
            </a:prstGeom>
            <a:noFill/>
            <a:ln w="12700">
              <a:noFill/>
              <a:miter lim="800000"/>
            </a:ln>
          </p:spPr>
          <p:txBody>
            <a:bodyPr lIns="0" tIns="0" rIns="54185" bIns="0"/>
            <a:lstStyle/>
            <a:p>
              <a:pPr marL="39792" algn="ctr"/>
              <a:r>
                <a:rPr lang="en-US" sz="2400" dirty="0">
                  <a:latin typeface="Calibri" panose="020F0502020204030204" pitchFamily="34" charset="0"/>
                  <a:cs typeface="Arial" panose="020B0604020202020204" pitchFamily="34" charset="0"/>
                </a:rPr>
                <a:t>Actuators</a:t>
              </a:r>
            </a:p>
          </p:txBody>
        </p:sp>
      </p:grpSp>
      <p:sp>
        <p:nvSpPr>
          <p:cNvPr id="23562" name="AutoShape 16"/>
          <p:cNvSpPr/>
          <p:nvPr/>
        </p:nvSpPr>
        <p:spPr bwMode="auto">
          <a:xfrm>
            <a:off x="7173911" y="4259263"/>
            <a:ext cx="1905000" cy="1739900"/>
          </a:xfrm>
          <a:prstGeom prst="roundRect">
            <a:avLst>
              <a:gd name="adj" fmla="val 10944"/>
            </a:avLst>
          </a:prstGeom>
          <a:solidFill>
            <a:srgbClr val="9FB0D1"/>
          </a:solidFill>
          <a:ln w="12700">
            <a:solidFill>
              <a:schemeClr val="tx1"/>
            </a:solidFill>
            <a:round/>
          </a:ln>
        </p:spPr>
        <p:txBody>
          <a:bodyPr lIns="0" tIns="0" rIns="0" bIns="0"/>
          <a:lstStyle/>
          <a:p>
            <a:endParaRPr lang="en-US" sz="2400">
              <a:latin typeface="Calibri" panose="020F0502020204030204" pitchFamily="34" charset="0"/>
            </a:endParaRPr>
          </a:p>
        </p:txBody>
      </p:sp>
      <p:sp>
        <p:nvSpPr>
          <p:cNvPr id="23563" name="Rectangle 17"/>
          <p:cNvSpPr/>
          <p:nvPr/>
        </p:nvSpPr>
        <p:spPr bwMode="auto">
          <a:xfrm>
            <a:off x="7043736" y="4343401"/>
            <a:ext cx="2159000" cy="469900"/>
          </a:xfrm>
          <a:prstGeom prst="rect">
            <a:avLst/>
          </a:prstGeom>
          <a:noFill/>
          <a:ln w="12700">
            <a:noFill/>
            <a:miter lim="800000"/>
          </a:ln>
        </p:spPr>
        <p:txBody>
          <a:bodyPr lIns="0" tIns="0" rIns="40639" bIns="0"/>
          <a:lstStyle/>
          <a:p>
            <a:pPr marL="39792" algn="ctr"/>
            <a:r>
              <a:rPr lang="en-US" sz="2400" b="1" dirty="0">
                <a:latin typeface="Calibri" panose="020F0502020204030204" pitchFamily="34" charset="0"/>
                <a:cs typeface="Arial" panose="020B0604020202020204" pitchFamily="34" charset="0"/>
              </a:rPr>
              <a:t>Environment</a:t>
            </a:r>
          </a:p>
        </p:txBody>
      </p:sp>
      <p:sp>
        <p:nvSpPr>
          <p:cNvPr id="23564" name="Line 18"/>
          <p:cNvSpPr>
            <a:spLocks noChangeShapeType="1"/>
          </p:cNvSpPr>
          <p:nvPr/>
        </p:nvSpPr>
        <p:spPr bwMode="auto">
          <a:xfrm rot="10800000" flipH="1">
            <a:off x="5195887" y="4765675"/>
            <a:ext cx="2479675" cy="0"/>
          </a:xfrm>
          <a:prstGeom prst="line">
            <a:avLst/>
          </a:prstGeom>
          <a:noFill/>
          <a:ln w="25400">
            <a:solidFill>
              <a:schemeClr val="tx1"/>
            </a:solidFill>
            <a:round/>
            <a:headEnd type="stealth" w="med" len="med"/>
          </a:ln>
        </p:spPr>
        <p:txBody>
          <a:bodyPr lIns="91439" tIns="45719" rIns="91439" bIns="45719"/>
          <a:lstStyle/>
          <a:p>
            <a:endParaRPr lang="en-US" sz="2400">
              <a:latin typeface="Calibri" panose="020F0502020204030204" pitchFamily="34" charset="0"/>
            </a:endParaRPr>
          </a:p>
        </p:txBody>
      </p:sp>
      <p:sp>
        <p:nvSpPr>
          <p:cNvPr id="23565" name="Line 19"/>
          <p:cNvSpPr>
            <a:spLocks noChangeShapeType="1"/>
          </p:cNvSpPr>
          <p:nvPr/>
        </p:nvSpPr>
        <p:spPr bwMode="auto">
          <a:xfrm flipH="1">
            <a:off x="5319711" y="5765800"/>
            <a:ext cx="2347912" cy="0"/>
          </a:xfrm>
          <a:prstGeom prst="line">
            <a:avLst/>
          </a:prstGeom>
          <a:noFill/>
          <a:ln w="25400">
            <a:solidFill>
              <a:schemeClr val="tx1"/>
            </a:solidFill>
            <a:round/>
            <a:headEnd type="stealth" w="med" len="med"/>
          </a:ln>
        </p:spPr>
        <p:txBody>
          <a:bodyPr lIns="91439" tIns="45719" rIns="91439" bIns="45719"/>
          <a:lstStyle/>
          <a:p>
            <a:endParaRPr lang="en-US" sz="2400">
              <a:latin typeface="Calibri" panose="020F0502020204030204" pitchFamily="34" charset="0"/>
            </a:endParaRPr>
          </a:p>
        </p:txBody>
      </p:sp>
      <p:sp>
        <p:nvSpPr>
          <p:cNvPr id="23566" name="Rectangle 20"/>
          <p:cNvSpPr/>
          <p:nvPr/>
        </p:nvSpPr>
        <p:spPr bwMode="auto">
          <a:xfrm>
            <a:off x="5862637" y="4779963"/>
            <a:ext cx="1257300" cy="355600"/>
          </a:xfrm>
          <a:prstGeom prst="rect">
            <a:avLst/>
          </a:prstGeom>
          <a:noFill/>
          <a:ln w="12700">
            <a:noFill/>
            <a:miter lim="800000"/>
          </a:ln>
        </p:spPr>
        <p:txBody>
          <a:bodyPr lIns="0" tIns="0" rIns="40639" bIns="0"/>
          <a:lstStyle/>
          <a:p>
            <a:pPr marL="39792" algn="ctr"/>
            <a:r>
              <a:rPr lang="en-US" sz="1600" dirty="0">
                <a:latin typeface="Calibri" panose="020F0502020204030204" pitchFamily="34" charset="0"/>
                <a:cs typeface="Arial" panose="020B0604020202020204" pitchFamily="34" charset="0"/>
              </a:rPr>
              <a:t>Percepts</a:t>
            </a:r>
          </a:p>
        </p:txBody>
      </p:sp>
      <p:sp>
        <p:nvSpPr>
          <p:cNvPr id="23567" name="Rectangle 21"/>
          <p:cNvSpPr/>
          <p:nvPr/>
        </p:nvSpPr>
        <p:spPr bwMode="auto">
          <a:xfrm>
            <a:off x="5951537" y="5765800"/>
            <a:ext cx="1079500" cy="406400"/>
          </a:xfrm>
          <a:prstGeom prst="rect">
            <a:avLst/>
          </a:prstGeom>
          <a:noFill/>
          <a:ln w="12700">
            <a:noFill/>
            <a:miter lim="800000"/>
          </a:ln>
        </p:spPr>
        <p:txBody>
          <a:bodyPr lIns="0" tIns="0" rIns="40639" bIns="0"/>
          <a:lstStyle/>
          <a:p>
            <a:pPr marL="39792" algn="ctr"/>
            <a:r>
              <a:rPr lang="en-US" sz="1600" dirty="0">
                <a:latin typeface="Calibri" panose="020F0502020204030204" pitchFamily="34" charset="0"/>
                <a:cs typeface="Arial" panose="020B0604020202020204" pitchFamily="34" charset="0"/>
              </a:rPr>
              <a:t>Actions</a:t>
            </a:r>
          </a:p>
        </p:txBody>
      </p:sp>
      <p:sp>
        <p:nvSpPr>
          <p:cNvPr id="20" name="Text Box 4"/>
          <p:cNvSpPr txBox="1">
            <a:spLocks noChangeArrowheads="1"/>
          </p:cNvSpPr>
          <p:nvPr/>
        </p:nvSpPr>
        <p:spPr bwMode="auto">
          <a:xfrm>
            <a:off x="0" y="6477000"/>
            <a:ext cx="8636000" cy="297452"/>
          </a:xfrm>
          <a:prstGeom prst="rect">
            <a:avLst/>
          </a:prstGeom>
          <a:noFill/>
          <a:ln w="9525">
            <a:noFill/>
            <a:miter lim="800000"/>
          </a:ln>
        </p:spPr>
        <p:txBody>
          <a:bodyPr wrap="square" lIns="91439" tIns="45719" rIns="91439" bIns="45719">
            <a:spAutoFit/>
          </a:bodyPr>
          <a:lstStyle/>
          <a:p>
            <a:pPr algn="ctr">
              <a:spcBef>
                <a:spcPct val="50000"/>
              </a:spcBef>
            </a:pPr>
            <a:r>
              <a:rPr lang="en-US" sz="1333" dirty="0"/>
              <a:t>Pac-Man is a registered trademark of Namco-Bandai Games, used here for educational purposes</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task environment - PEAS</a:t>
            </a:r>
          </a:p>
        </p:txBody>
      </p:sp>
      <p:sp>
        <p:nvSpPr>
          <p:cNvPr id="3" name="Content Placeholder 2"/>
          <p:cNvSpPr>
            <a:spLocks noGrp="1"/>
          </p:cNvSpPr>
          <p:nvPr>
            <p:ph idx="1"/>
          </p:nvPr>
        </p:nvSpPr>
        <p:spPr>
          <a:xfrm>
            <a:off x="406400" y="1397003"/>
            <a:ext cx="8839200" cy="4775197"/>
          </a:xfrm>
        </p:spPr>
        <p:txBody>
          <a:bodyPr/>
          <a:lstStyle/>
          <a:p>
            <a:r>
              <a:rPr lang="en-US" dirty="0"/>
              <a:t>Performance measure</a:t>
            </a:r>
          </a:p>
          <a:p>
            <a:pPr lvl="1"/>
            <a:r>
              <a:rPr lang="en-US" dirty="0"/>
              <a:t>-1 per step; + 10 food; +500 win; -500 die;               +200 hit scared ghost</a:t>
            </a:r>
          </a:p>
          <a:p>
            <a:r>
              <a:rPr lang="en-US" dirty="0"/>
              <a:t>Environment</a:t>
            </a:r>
          </a:p>
          <a:p>
            <a:pPr lvl="1"/>
            <a:r>
              <a:rPr lang="en-US" dirty="0"/>
              <a:t>Pacman dynamics</a:t>
            </a:r>
          </a:p>
          <a:p>
            <a:r>
              <a:rPr lang="en-US" dirty="0"/>
              <a:t>Actuators</a:t>
            </a:r>
          </a:p>
          <a:p>
            <a:pPr lvl="1"/>
            <a:r>
              <a:rPr lang="en-US" dirty="0"/>
              <a:t>Left Right Up Down</a:t>
            </a:r>
          </a:p>
          <a:p>
            <a:r>
              <a:rPr lang="en-US" dirty="0"/>
              <a:t>Sensors</a:t>
            </a:r>
          </a:p>
          <a:p>
            <a:pPr lvl="1"/>
            <a:r>
              <a:rPr lang="en-US" dirty="0"/>
              <a:t>Entire state is visible </a:t>
            </a:r>
          </a:p>
        </p:txBody>
      </p:sp>
      <p:pic>
        <p:nvPicPr>
          <p:cNvPr id="7" name="Picture 1"/>
          <p:cNvPicPr>
            <a:picLocks noChangeAspect="1" noChangeArrowheads="1"/>
          </p:cNvPicPr>
          <p:nvPr/>
        </p:nvPicPr>
        <p:blipFill rotWithShape="1">
          <a:blip r:embed="rId2" cstate="print"/>
          <a:srcRect l="-2" r="44802"/>
          <a:stretch>
            <a:fillRect/>
          </a:stretch>
        </p:blipFill>
        <p:spPr bwMode="auto">
          <a:xfrm>
            <a:off x="7680960" y="1600205"/>
            <a:ext cx="4206240" cy="3375449"/>
          </a:xfrm>
          <a:prstGeom prst="rect">
            <a:avLst/>
          </a:prstGeom>
          <a:noFill/>
          <a:ln w="12700">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PEAS: Automated taxi</a:t>
            </a:r>
          </a:p>
        </p:txBody>
      </p:sp>
      <p:sp>
        <p:nvSpPr>
          <p:cNvPr id="3" name="Content Placeholder 2"/>
          <p:cNvSpPr>
            <a:spLocks noGrp="1"/>
          </p:cNvSpPr>
          <p:nvPr>
            <p:ph idx="1"/>
          </p:nvPr>
        </p:nvSpPr>
        <p:spPr>
          <a:xfrm>
            <a:off x="304800" y="1208157"/>
            <a:ext cx="6908800" cy="4729164"/>
          </a:xfrm>
        </p:spPr>
        <p:txBody>
          <a:bodyPr/>
          <a:lstStyle/>
          <a:p>
            <a:r>
              <a:rPr lang="en-US" dirty="0"/>
              <a:t>Performance measure</a:t>
            </a:r>
          </a:p>
          <a:p>
            <a:pPr lvl="1"/>
            <a:r>
              <a:rPr lang="en-US" dirty="0"/>
              <a:t>Income, happy customer, vehicle costs, fines, insurance premiums</a:t>
            </a:r>
          </a:p>
          <a:p>
            <a:r>
              <a:rPr lang="en-US" dirty="0"/>
              <a:t>Environment</a:t>
            </a:r>
          </a:p>
          <a:p>
            <a:pPr lvl="1"/>
            <a:r>
              <a:rPr lang="en-US" dirty="0"/>
              <a:t>streets, other drivers, customers, weather, police…</a:t>
            </a:r>
          </a:p>
          <a:p>
            <a:r>
              <a:rPr lang="en-US" dirty="0"/>
              <a:t>Actuators</a:t>
            </a:r>
          </a:p>
          <a:p>
            <a:pPr lvl="1"/>
            <a:r>
              <a:rPr lang="en-US" dirty="0"/>
              <a:t>Steering, brake, gas, display/speaker</a:t>
            </a:r>
          </a:p>
          <a:p>
            <a:r>
              <a:rPr lang="en-US" dirty="0"/>
              <a:t>Sensors</a:t>
            </a:r>
          </a:p>
          <a:p>
            <a:pPr lvl="1"/>
            <a:r>
              <a:rPr lang="en-US" dirty="0"/>
              <a:t>Camera, radar, accelerometer, engine sensors, microphone, GPS</a:t>
            </a:r>
          </a:p>
        </p:txBody>
      </p:sp>
      <p:pic>
        <p:nvPicPr>
          <p:cNvPr id="6" name="Picture 5"/>
          <p:cNvPicPr>
            <a:picLocks noChangeAspect="1"/>
          </p:cNvPicPr>
          <p:nvPr/>
        </p:nvPicPr>
        <p:blipFill>
          <a:blip r:embed="rId2"/>
          <a:stretch>
            <a:fillRect/>
          </a:stretch>
        </p:blipFill>
        <p:spPr>
          <a:xfrm>
            <a:off x="8286240" y="1498601"/>
            <a:ext cx="2991360" cy="4148275"/>
          </a:xfrm>
          <a:prstGeom prst="rect">
            <a:avLst/>
          </a:prstGeom>
        </p:spPr>
      </p:pic>
      <p:sp>
        <p:nvSpPr>
          <p:cNvPr id="7" name="Rectangle 6"/>
          <p:cNvSpPr/>
          <p:nvPr/>
        </p:nvSpPr>
        <p:spPr>
          <a:xfrm>
            <a:off x="6908800" y="6160373"/>
            <a:ext cx="5261173" cy="697747"/>
          </a:xfrm>
          <a:prstGeom prst="rect">
            <a:avLst/>
          </a:prstGeom>
        </p:spPr>
        <p:txBody>
          <a:bodyPr wrap="square" lIns="121912" tIns="60956" rIns="121912" bIns="60956">
            <a:spAutoFit/>
          </a:bodyPr>
          <a:lstStyle/>
          <a:p>
            <a:r>
              <a:rPr lang="en-US" sz="1867" dirty="0">
                <a:solidFill>
                  <a:schemeClr val="bg1">
                    <a:lumMod val="50000"/>
                  </a:schemeClr>
                </a:solidFill>
                <a:latin typeface="Calibri" panose="020F0502020204030204"/>
                <a:cs typeface="Calibri" panose="020F0502020204030204"/>
              </a:rPr>
              <a:t>Image: http://</a:t>
            </a:r>
            <a:r>
              <a:rPr lang="en-US" sz="1867" dirty="0" err="1">
                <a:solidFill>
                  <a:schemeClr val="bg1">
                    <a:lumMod val="50000"/>
                  </a:schemeClr>
                </a:solidFill>
                <a:latin typeface="Calibri" panose="020F0502020204030204"/>
                <a:cs typeface="Calibri" panose="020F0502020204030204"/>
              </a:rPr>
              <a:t>nypost.com</a:t>
            </a:r>
            <a:r>
              <a:rPr lang="en-US" sz="1867" dirty="0">
                <a:solidFill>
                  <a:schemeClr val="bg1">
                    <a:lumMod val="50000"/>
                  </a:schemeClr>
                </a:solidFill>
                <a:latin typeface="Calibri" panose="020F0502020204030204"/>
                <a:cs typeface="Calibri" panose="020F0502020204030204"/>
              </a:rPr>
              <a:t>/2014/06/21/how-</a:t>
            </a:r>
            <a:r>
              <a:rPr lang="en-US" sz="1867" dirty="0" err="1">
                <a:solidFill>
                  <a:schemeClr val="bg1">
                    <a:lumMod val="50000"/>
                  </a:schemeClr>
                </a:solidFill>
                <a:latin typeface="Calibri" panose="020F0502020204030204"/>
                <a:cs typeface="Calibri" panose="020F0502020204030204"/>
              </a:rPr>
              <a:t>google</a:t>
            </a:r>
            <a:r>
              <a:rPr lang="en-US" sz="1867" dirty="0">
                <a:solidFill>
                  <a:schemeClr val="bg1">
                    <a:lumMod val="50000"/>
                  </a:schemeClr>
                </a:solidFill>
                <a:latin typeface="Calibri" panose="020F0502020204030204"/>
                <a:cs typeface="Calibri" panose="020F0502020204030204"/>
              </a:rPr>
              <a:t>-might-put-taxi-drivers-out-of-business/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25290635.jpg"/>
          <p:cNvPicPr>
            <a:picLocks noChangeAspect="1"/>
          </p:cNvPicPr>
          <p:nvPr/>
        </p:nvPicPr>
        <p:blipFill rotWithShape="1">
          <a:blip r:embed="rId2">
            <a:extLst>
              <a:ext uri="{28A0092B-C50C-407E-A947-70E740481C1C}">
                <a14:useLocalDpi xmlns:a14="http://schemas.microsoft.com/office/drawing/2010/main" val="0"/>
              </a:ext>
            </a:extLst>
          </a:blip>
          <a:srcRect l="13199" t="1805" r="16738" b="3194"/>
          <a:stretch>
            <a:fillRect/>
          </a:stretch>
        </p:blipFill>
        <p:spPr>
          <a:xfrm>
            <a:off x="7225792" y="2108200"/>
            <a:ext cx="4559808" cy="3474720"/>
          </a:xfrm>
          <a:prstGeom prst="rect">
            <a:avLst/>
          </a:prstGeom>
          <a:ln>
            <a:solidFill>
              <a:srgbClr val="000000"/>
            </a:solidFill>
          </a:ln>
        </p:spPr>
      </p:pic>
      <p:pic>
        <p:nvPicPr>
          <p:cNvPr id="4" name="Picture 3"/>
          <p:cNvPicPr>
            <a:picLocks noChangeAspect="1"/>
          </p:cNvPicPr>
          <p:nvPr/>
        </p:nvPicPr>
        <p:blipFill>
          <a:blip r:embed="rId3"/>
          <a:stretch>
            <a:fillRect/>
          </a:stretch>
        </p:blipFill>
        <p:spPr>
          <a:xfrm>
            <a:off x="7010400" y="2006600"/>
            <a:ext cx="4897205" cy="3657600"/>
          </a:xfrm>
          <a:prstGeom prst="rect">
            <a:avLst/>
          </a:prstGeom>
        </p:spPr>
      </p:pic>
      <p:sp>
        <p:nvSpPr>
          <p:cNvPr id="2" name="Title 1"/>
          <p:cNvSpPr>
            <a:spLocks noGrp="1"/>
          </p:cNvSpPr>
          <p:nvPr>
            <p:ph type="title"/>
          </p:nvPr>
        </p:nvSpPr>
        <p:spPr/>
        <p:txBody>
          <a:bodyPr/>
          <a:lstStyle/>
          <a:p>
            <a:r>
              <a:rPr lang="en-US" dirty="0"/>
              <a:t>PEAS: Medical diagnosis system</a:t>
            </a:r>
          </a:p>
        </p:txBody>
      </p:sp>
      <p:sp>
        <p:nvSpPr>
          <p:cNvPr id="3" name="Content Placeholder 2"/>
          <p:cNvSpPr>
            <a:spLocks noGrp="1"/>
          </p:cNvSpPr>
          <p:nvPr>
            <p:ph idx="1"/>
          </p:nvPr>
        </p:nvSpPr>
        <p:spPr>
          <a:xfrm>
            <a:off x="406400" y="1397003"/>
            <a:ext cx="6908800" cy="4729164"/>
          </a:xfrm>
        </p:spPr>
        <p:txBody>
          <a:bodyPr/>
          <a:lstStyle/>
          <a:p>
            <a:r>
              <a:rPr lang="en-US" dirty="0"/>
              <a:t>Performance measure</a:t>
            </a:r>
          </a:p>
          <a:p>
            <a:pPr lvl="1"/>
            <a:r>
              <a:rPr lang="en-US" dirty="0"/>
              <a:t>Patient health, cost, reputation</a:t>
            </a:r>
          </a:p>
          <a:p>
            <a:r>
              <a:rPr lang="en-US" dirty="0"/>
              <a:t>Environment</a:t>
            </a:r>
          </a:p>
          <a:p>
            <a:pPr lvl="1"/>
            <a:r>
              <a:rPr lang="en-US" dirty="0"/>
              <a:t>Patients, medical staff, insurers, courts</a:t>
            </a:r>
          </a:p>
          <a:p>
            <a:r>
              <a:rPr lang="en-US" dirty="0"/>
              <a:t>Actuators</a:t>
            </a:r>
          </a:p>
          <a:p>
            <a:pPr lvl="1"/>
            <a:r>
              <a:rPr lang="en-US" dirty="0"/>
              <a:t>Screen display, email</a:t>
            </a:r>
          </a:p>
          <a:p>
            <a:r>
              <a:rPr lang="en-US" dirty="0"/>
              <a:t>Sensors</a:t>
            </a:r>
          </a:p>
          <a:p>
            <a:pPr lvl="1"/>
            <a:r>
              <a:rPr lang="en-US" dirty="0"/>
              <a:t>Keyboard/mouse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a:spLocks noGrp="1"/>
          </p:cNvSpPr>
          <p:nvPr>
            <p:ph type="title"/>
          </p:nvPr>
        </p:nvSpPr>
        <p:spPr>
          <a:xfrm>
            <a:off x="0" y="-25400"/>
            <a:ext cx="12192000" cy="1143000"/>
          </a:xfrm>
        </p:spPr>
        <p:txBody>
          <a:bodyPr/>
          <a:lstStyle/>
          <a:p>
            <a:r>
              <a:rPr lang="en-US" dirty="0"/>
              <a:t>More Examples </a:t>
            </a:r>
          </a:p>
        </p:txBody>
      </p:sp>
      <p:graphicFrame>
        <p:nvGraphicFramePr>
          <p:cNvPr id="4" name="Table 3"/>
          <p:cNvGraphicFramePr>
            <a:graphicFrameLocks noGrp="1"/>
          </p:cNvGraphicFramePr>
          <p:nvPr>
            <p:extLst>
              <p:ext uri="{D42A27DB-BD31-4B8C-83A1-F6EECF244321}">
                <p14:modId xmlns:p14="http://schemas.microsoft.com/office/powerpoint/2010/main" val="3724729666"/>
              </p:ext>
            </p:extLst>
          </p:nvPr>
        </p:nvGraphicFramePr>
        <p:xfrm>
          <a:off x="168988" y="981388"/>
          <a:ext cx="11854023" cy="5249490"/>
        </p:xfrm>
        <a:graphic>
          <a:graphicData uri="http://schemas.openxmlformats.org/drawingml/2006/table">
            <a:tbl>
              <a:tblPr firstRow="1" bandRow="1">
                <a:noFill/>
              </a:tblPr>
              <a:tblGrid>
                <a:gridCol w="1759799">
                  <a:extLst>
                    <a:ext uri="{9D8B030D-6E8A-4147-A177-3AD203B41FA5}">
                      <a16:colId xmlns:a16="http://schemas.microsoft.com/office/drawing/2014/main" val="20000"/>
                    </a:ext>
                  </a:extLst>
                </a:gridCol>
                <a:gridCol w="2388531">
                  <a:extLst>
                    <a:ext uri="{9D8B030D-6E8A-4147-A177-3AD203B41FA5}">
                      <a16:colId xmlns:a16="http://schemas.microsoft.com/office/drawing/2014/main" val="20001"/>
                    </a:ext>
                  </a:extLst>
                </a:gridCol>
                <a:gridCol w="2803992">
                  <a:extLst>
                    <a:ext uri="{9D8B030D-6E8A-4147-A177-3AD203B41FA5}">
                      <a16:colId xmlns:a16="http://schemas.microsoft.com/office/drawing/2014/main" val="20002"/>
                    </a:ext>
                  </a:extLst>
                </a:gridCol>
                <a:gridCol w="2992335">
                  <a:extLst>
                    <a:ext uri="{9D8B030D-6E8A-4147-A177-3AD203B41FA5}">
                      <a16:colId xmlns:a16="http://schemas.microsoft.com/office/drawing/2014/main" val="20003"/>
                    </a:ext>
                  </a:extLst>
                </a:gridCol>
                <a:gridCol w="1909366">
                  <a:extLst>
                    <a:ext uri="{9D8B030D-6E8A-4147-A177-3AD203B41FA5}">
                      <a16:colId xmlns:a16="http://schemas.microsoft.com/office/drawing/2014/main" val="20004"/>
                    </a:ext>
                  </a:extLst>
                </a:gridCol>
              </a:tblGrid>
              <a:tr h="783453">
                <a:tc>
                  <a:txBody>
                    <a:bodyPr/>
                    <a:lstStyle/>
                    <a:p>
                      <a:pPr algn="l" fontAlgn="base"/>
                      <a:r>
                        <a:rPr lang="en-US" sz="2000" b="1">
                          <a:solidFill>
                            <a:srgbClr val="FFFFFF"/>
                          </a:solidFill>
                          <a:effectLst/>
                        </a:rPr>
                        <a:t>Agent</a:t>
                      </a:r>
                    </a:p>
                  </a:txBody>
                  <a:tcPr marL="176421" marR="105853" marT="105853" marB="105853" anchor="ctr">
                    <a:lnL w="38100" cap="flat" cmpd="sng" algn="ctr">
                      <a:no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rgbClr val="636B68">
                        <a:alpha val="69804"/>
                      </a:srgbClr>
                    </a:solidFill>
                  </a:tcPr>
                </a:tc>
                <a:tc>
                  <a:txBody>
                    <a:bodyPr/>
                    <a:lstStyle/>
                    <a:p>
                      <a:pPr algn="l" fontAlgn="base"/>
                      <a:r>
                        <a:rPr lang="en-US" sz="2000" b="1" dirty="0">
                          <a:solidFill>
                            <a:srgbClr val="FFFFFF"/>
                          </a:solidFill>
                          <a:effectLst/>
                        </a:rPr>
                        <a:t>Performance Measure</a:t>
                      </a:r>
                    </a:p>
                  </a:txBody>
                  <a:tcPr marL="176421" marR="105853" marT="105853" marB="105853" anchor="ctr">
                    <a:lnL w="38100" cap="flat" cmpd="sng" algn="ctr">
                      <a:solidFill>
                        <a:srgbClr val="FFFFFF"/>
                      </a:solid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rgbClr val="636B68">
                        <a:alpha val="69804"/>
                      </a:srgbClr>
                    </a:solidFill>
                  </a:tcPr>
                </a:tc>
                <a:tc>
                  <a:txBody>
                    <a:bodyPr/>
                    <a:lstStyle/>
                    <a:p>
                      <a:pPr algn="l" fontAlgn="base"/>
                      <a:r>
                        <a:rPr lang="en-US" sz="2000" b="1">
                          <a:solidFill>
                            <a:srgbClr val="FFFFFF"/>
                          </a:solidFill>
                          <a:effectLst/>
                        </a:rPr>
                        <a:t>Environment</a:t>
                      </a:r>
                    </a:p>
                  </a:txBody>
                  <a:tcPr marL="176421" marR="105853" marT="105853" marB="105853" anchor="ctr">
                    <a:lnL w="38100" cap="flat" cmpd="sng" algn="ctr">
                      <a:solidFill>
                        <a:srgbClr val="FFFFFF"/>
                      </a:solid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rgbClr val="636B68">
                        <a:alpha val="69804"/>
                      </a:srgbClr>
                    </a:solidFill>
                  </a:tcPr>
                </a:tc>
                <a:tc>
                  <a:txBody>
                    <a:bodyPr/>
                    <a:lstStyle/>
                    <a:p>
                      <a:pPr algn="l" fontAlgn="base"/>
                      <a:r>
                        <a:rPr lang="en-US" sz="2000" b="1">
                          <a:solidFill>
                            <a:srgbClr val="FFFFFF"/>
                          </a:solidFill>
                          <a:effectLst/>
                        </a:rPr>
                        <a:t>Actuator</a:t>
                      </a:r>
                    </a:p>
                  </a:txBody>
                  <a:tcPr marL="176421" marR="105853" marT="105853" marB="105853" anchor="ctr">
                    <a:lnL w="38100" cap="flat" cmpd="sng" algn="ctr">
                      <a:solidFill>
                        <a:srgbClr val="FFFFFF"/>
                      </a:solid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rgbClr val="636B68">
                        <a:alpha val="69804"/>
                      </a:srgbClr>
                    </a:solidFill>
                  </a:tcPr>
                </a:tc>
                <a:tc>
                  <a:txBody>
                    <a:bodyPr/>
                    <a:lstStyle/>
                    <a:p>
                      <a:pPr algn="l" fontAlgn="base"/>
                      <a:r>
                        <a:rPr lang="en-US" sz="2000" b="1">
                          <a:solidFill>
                            <a:srgbClr val="FFFFFF"/>
                          </a:solidFill>
                          <a:effectLst/>
                        </a:rPr>
                        <a:t>Sensor</a:t>
                      </a:r>
                    </a:p>
                  </a:txBody>
                  <a:tcPr marL="176421" marR="105853" marT="105853" marB="105853" anchor="ctr">
                    <a:lnL w="38100" cap="flat" cmpd="sng" algn="ctr">
                      <a:solidFill>
                        <a:srgbClr val="FFFFFF"/>
                      </a:solidFill>
                      <a:prstDash val="solid"/>
                    </a:lnL>
                    <a:lnR w="38100" cap="flat" cmpd="sng" algn="ctr">
                      <a:noFill/>
                      <a:prstDash val="solid"/>
                    </a:lnR>
                    <a:lnT w="38100" cap="flat" cmpd="sng" algn="ctr">
                      <a:noFill/>
                      <a:prstDash val="solid"/>
                    </a:lnT>
                    <a:lnB w="38100" cap="flat" cmpd="sng" algn="ctr">
                      <a:solidFill>
                        <a:srgbClr val="FFFFFF"/>
                      </a:solidFill>
                      <a:prstDash val="solid"/>
                    </a:lnB>
                    <a:solidFill>
                      <a:srgbClr val="636B68">
                        <a:alpha val="69804"/>
                      </a:srgbClr>
                    </a:solidFill>
                  </a:tcPr>
                </a:tc>
                <a:extLst>
                  <a:ext uri="{0D108BD9-81ED-4DB2-BD59-A6C34878D82A}">
                    <a16:rowId xmlns:a16="http://schemas.microsoft.com/office/drawing/2014/main" val="10000"/>
                  </a:ext>
                </a:extLst>
              </a:tr>
              <a:tr h="1038697">
                <a:tc>
                  <a:txBody>
                    <a:bodyPr/>
                    <a:lstStyle/>
                    <a:p>
                      <a:pPr algn="l" fontAlgn="base"/>
                      <a:r>
                        <a:rPr lang="en-US" sz="2000" b="0">
                          <a:solidFill>
                            <a:schemeClr val="tx1">
                              <a:lumMod val="85000"/>
                              <a:lumOff val="15000"/>
                            </a:schemeClr>
                          </a:solidFill>
                          <a:effectLst/>
                        </a:rPr>
                        <a:t>Hospital Management System</a:t>
                      </a:r>
                    </a:p>
                  </a:txBody>
                  <a:tcPr marL="176421" marR="105853" marT="105853" marB="105853" anchor="ctr">
                    <a:lnL w="38100" cap="flat" cmpd="sng" algn="ctr">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lgn="l" fontAlgn="base"/>
                      <a:r>
                        <a:rPr lang="en-US" sz="2000" b="0">
                          <a:solidFill>
                            <a:schemeClr val="tx1">
                              <a:lumMod val="85000"/>
                              <a:lumOff val="15000"/>
                            </a:schemeClr>
                          </a:solidFill>
                          <a:effectLst/>
                        </a:rPr>
                        <a:t>Patient’s health, Admission process, Payment</a:t>
                      </a:r>
                    </a:p>
                  </a:txBody>
                  <a:tcPr marL="176421" marR="105853" marT="105853" marB="105853"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lgn="l" fontAlgn="base"/>
                      <a:r>
                        <a:rPr lang="en-US" sz="2000" b="0">
                          <a:solidFill>
                            <a:schemeClr val="tx1">
                              <a:lumMod val="85000"/>
                              <a:lumOff val="15000"/>
                            </a:schemeClr>
                          </a:solidFill>
                          <a:effectLst/>
                        </a:rPr>
                        <a:t>Hospital, Doctors, Patients</a:t>
                      </a:r>
                    </a:p>
                  </a:txBody>
                  <a:tcPr marL="176421" marR="105853" marT="105853" marB="105853"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lgn="l" fontAlgn="base"/>
                      <a:r>
                        <a:rPr lang="en-US" sz="2000" b="0">
                          <a:solidFill>
                            <a:schemeClr val="tx1">
                              <a:lumMod val="85000"/>
                              <a:lumOff val="15000"/>
                            </a:schemeClr>
                          </a:solidFill>
                          <a:effectLst/>
                        </a:rPr>
                        <a:t>Prescription, Diagnosis, Scan report</a:t>
                      </a:r>
                    </a:p>
                  </a:txBody>
                  <a:tcPr marL="176421" marR="105853" marT="105853" marB="105853"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lgn="l" fontAlgn="base"/>
                      <a:r>
                        <a:rPr lang="en-US" sz="2000" b="0">
                          <a:solidFill>
                            <a:schemeClr val="tx1">
                              <a:lumMod val="85000"/>
                              <a:lumOff val="15000"/>
                            </a:schemeClr>
                          </a:solidFill>
                          <a:effectLst/>
                        </a:rPr>
                        <a:t>Symptoms, Patient’s response</a:t>
                      </a:r>
                    </a:p>
                  </a:txBody>
                  <a:tcPr marL="176421" marR="105853" marT="105853" marB="105853" anchor="ctr">
                    <a:lnL w="38100" cap="flat" cmpd="sng" algn="ctr">
                      <a:solidFill>
                        <a:srgbClr val="FFFFFF"/>
                      </a:solidFill>
                      <a:prstDash val="solid"/>
                    </a:lnL>
                    <a:lnR w="38100" cap="flat" cmpd="sng" algn="ctr">
                      <a:no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extLst>
                  <a:ext uri="{0D108BD9-81ED-4DB2-BD59-A6C34878D82A}">
                    <a16:rowId xmlns:a16="http://schemas.microsoft.com/office/drawing/2014/main" val="10001"/>
                  </a:ext>
                </a:extLst>
              </a:tr>
              <a:tr h="1038697">
                <a:tc>
                  <a:txBody>
                    <a:bodyPr/>
                    <a:lstStyle/>
                    <a:p>
                      <a:pPr algn="l" fontAlgn="base"/>
                      <a:r>
                        <a:rPr lang="en-US" sz="2000" b="0">
                          <a:solidFill>
                            <a:schemeClr val="tx1">
                              <a:lumMod val="85000"/>
                              <a:lumOff val="15000"/>
                            </a:schemeClr>
                          </a:solidFill>
                          <a:effectLst/>
                        </a:rPr>
                        <a:t>Automated Car Drive</a:t>
                      </a:r>
                    </a:p>
                  </a:txBody>
                  <a:tcPr marL="176421" marR="105853" marT="105853" marB="105853" anchor="ctr">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ase"/>
                      <a:r>
                        <a:rPr lang="en-US" sz="2000" b="0">
                          <a:solidFill>
                            <a:schemeClr val="tx1">
                              <a:lumMod val="85000"/>
                              <a:lumOff val="15000"/>
                            </a:schemeClr>
                          </a:solidFill>
                          <a:effectLst/>
                        </a:rPr>
                        <a:t>Comfortable trip, Safety, Maximum Distance</a:t>
                      </a:r>
                    </a:p>
                  </a:txBody>
                  <a:tcPr marL="176421" marR="105853" marT="105853" marB="105853"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ase"/>
                      <a:r>
                        <a:rPr lang="en-US" sz="2000" b="0">
                          <a:solidFill>
                            <a:schemeClr val="tx1">
                              <a:lumMod val="85000"/>
                              <a:lumOff val="15000"/>
                            </a:schemeClr>
                          </a:solidFill>
                          <a:effectLst/>
                        </a:rPr>
                        <a:t>Roads, Traffic, Vehicles</a:t>
                      </a:r>
                    </a:p>
                  </a:txBody>
                  <a:tcPr marL="176421" marR="105853" marT="105853" marB="105853"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ase"/>
                      <a:r>
                        <a:rPr lang="en-US" sz="2000" b="0">
                          <a:solidFill>
                            <a:schemeClr val="tx1">
                              <a:lumMod val="85000"/>
                              <a:lumOff val="15000"/>
                            </a:schemeClr>
                          </a:solidFill>
                          <a:effectLst/>
                        </a:rPr>
                        <a:t>Steering wheel, Accelerator, Brake, Mirror</a:t>
                      </a:r>
                    </a:p>
                  </a:txBody>
                  <a:tcPr marL="176421" marR="105853" marT="105853" marB="105853"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l" fontAlgn="base"/>
                      <a:r>
                        <a:rPr lang="en-US" sz="2000" b="0">
                          <a:solidFill>
                            <a:schemeClr val="tx1">
                              <a:lumMod val="85000"/>
                              <a:lumOff val="15000"/>
                            </a:schemeClr>
                          </a:solidFill>
                          <a:effectLst/>
                        </a:rPr>
                        <a:t>Camera, GPS, Odometer</a:t>
                      </a:r>
                    </a:p>
                  </a:txBody>
                  <a:tcPr marL="176421" marR="105853" marT="105853" marB="105853" anchor="ctr">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10002"/>
                  </a:ext>
                </a:extLst>
              </a:tr>
              <a:tr h="1038697">
                <a:tc>
                  <a:txBody>
                    <a:bodyPr/>
                    <a:lstStyle/>
                    <a:p>
                      <a:pPr algn="l" fontAlgn="base"/>
                      <a:r>
                        <a:rPr lang="en-US" sz="2000" b="0" dirty="0">
                          <a:solidFill>
                            <a:schemeClr val="tx1">
                              <a:lumMod val="85000"/>
                              <a:lumOff val="15000"/>
                            </a:schemeClr>
                          </a:solidFill>
                          <a:effectLst/>
                        </a:rPr>
                        <a:t>Subject Tutoring</a:t>
                      </a:r>
                    </a:p>
                  </a:txBody>
                  <a:tcPr marL="176421" marR="105853" marT="105853" marB="105853" anchor="ctr">
                    <a:lnL w="38100" cap="flat" cmpd="sng" algn="ctr">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round/>
                      <a:headEnd type="none" w="med" len="med"/>
                      <a:tailEnd type="none" w="med" len="med"/>
                    </a:lnB>
                    <a:solidFill>
                      <a:srgbClr val="878E8B">
                        <a:alpha val="14902"/>
                      </a:srgbClr>
                    </a:solidFill>
                  </a:tcPr>
                </a:tc>
                <a:tc>
                  <a:txBody>
                    <a:bodyPr/>
                    <a:lstStyle/>
                    <a:p>
                      <a:pPr algn="l" fontAlgn="base"/>
                      <a:r>
                        <a:rPr lang="en-US" sz="2000" b="0" dirty="0">
                          <a:solidFill>
                            <a:schemeClr val="tx1">
                              <a:lumMod val="85000"/>
                              <a:lumOff val="15000"/>
                            </a:schemeClr>
                          </a:solidFill>
                          <a:effectLst/>
                        </a:rPr>
                        <a:t>Maximize scores, Improvement is students</a:t>
                      </a:r>
                    </a:p>
                  </a:txBody>
                  <a:tcPr marL="176421" marR="105853" marT="105853" marB="105853"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round/>
                      <a:headEnd type="none" w="med" len="med"/>
                      <a:tailEnd type="none" w="med" len="med"/>
                    </a:lnB>
                    <a:solidFill>
                      <a:srgbClr val="878E8B">
                        <a:alpha val="14902"/>
                      </a:srgbClr>
                    </a:solidFill>
                  </a:tcPr>
                </a:tc>
                <a:tc>
                  <a:txBody>
                    <a:bodyPr/>
                    <a:lstStyle/>
                    <a:p>
                      <a:pPr algn="l" fontAlgn="base"/>
                      <a:r>
                        <a:rPr lang="en-US" sz="2000" b="0">
                          <a:solidFill>
                            <a:schemeClr val="tx1">
                              <a:lumMod val="85000"/>
                              <a:lumOff val="15000"/>
                            </a:schemeClr>
                          </a:solidFill>
                          <a:effectLst/>
                        </a:rPr>
                        <a:t>Classroom, Desk, Chair, Board, Staff, Students</a:t>
                      </a:r>
                    </a:p>
                  </a:txBody>
                  <a:tcPr marL="176421" marR="105853" marT="105853" marB="105853"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round/>
                      <a:headEnd type="none" w="med" len="med"/>
                      <a:tailEnd type="none" w="med" len="med"/>
                    </a:lnB>
                    <a:solidFill>
                      <a:srgbClr val="878E8B">
                        <a:alpha val="14902"/>
                      </a:srgbClr>
                    </a:solidFill>
                  </a:tcPr>
                </a:tc>
                <a:tc>
                  <a:txBody>
                    <a:bodyPr/>
                    <a:lstStyle/>
                    <a:p>
                      <a:pPr algn="l" fontAlgn="base"/>
                      <a:r>
                        <a:rPr lang="en-US" sz="2000" b="0">
                          <a:solidFill>
                            <a:schemeClr val="tx1">
                              <a:lumMod val="85000"/>
                              <a:lumOff val="15000"/>
                            </a:schemeClr>
                          </a:solidFill>
                          <a:effectLst/>
                        </a:rPr>
                        <a:t>Smart displays, Corrections</a:t>
                      </a:r>
                    </a:p>
                  </a:txBody>
                  <a:tcPr marL="176421" marR="105853" marT="105853" marB="105853"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round/>
                      <a:headEnd type="none" w="med" len="med"/>
                      <a:tailEnd type="none" w="med" len="med"/>
                    </a:lnB>
                    <a:solidFill>
                      <a:srgbClr val="878E8B">
                        <a:alpha val="14902"/>
                      </a:srgbClr>
                    </a:solidFill>
                  </a:tcPr>
                </a:tc>
                <a:tc>
                  <a:txBody>
                    <a:bodyPr/>
                    <a:lstStyle/>
                    <a:p>
                      <a:pPr algn="l" fontAlgn="base"/>
                      <a:r>
                        <a:rPr lang="en-US" sz="2000" b="0" dirty="0">
                          <a:solidFill>
                            <a:schemeClr val="tx1">
                              <a:lumMod val="85000"/>
                              <a:lumOff val="15000"/>
                            </a:schemeClr>
                          </a:solidFill>
                          <a:effectLst/>
                        </a:rPr>
                        <a:t>Eyes, Ears, Notebooks</a:t>
                      </a:r>
                    </a:p>
                  </a:txBody>
                  <a:tcPr marL="176421" marR="105853" marT="105853" marB="105853" anchor="ctr">
                    <a:lnL w="38100" cap="flat" cmpd="sng" algn="ctr">
                      <a:solidFill>
                        <a:srgbClr val="FFFFFF"/>
                      </a:solidFill>
                      <a:prstDash val="solid"/>
                    </a:lnL>
                    <a:lnR w="38100" cap="flat" cmpd="sng" algn="ctr">
                      <a:noFill/>
                      <a:prstDash val="solid"/>
                    </a:lnR>
                    <a:lnT w="38100" cap="flat" cmpd="sng" algn="ctr">
                      <a:solidFill>
                        <a:srgbClr val="FFFFFF"/>
                      </a:solidFill>
                      <a:prstDash val="solid"/>
                    </a:lnT>
                    <a:lnB w="38100" cap="flat" cmpd="sng" algn="ctr">
                      <a:solidFill>
                        <a:srgbClr val="FFFFFF"/>
                      </a:solidFill>
                      <a:prstDash val="solid"/>
                      <a:round/>
                      <a:headEnd type="none" w="med" len="med"/>
                      <a:tailEnd type="none" w="med" len="med"/>
                    </a:lnB>
                    <a:solidFill>
                      <a:srgbClr val="878E8B">
                        <a:alpha val="14902"/>
                      </a:srgbClr>
                    </a:solidFill>
                  </a:tcPr>
                </a:tc>
                <a:extLst>
                  <a:ext uri="{0D108BD9-81ED-4DB2-BD59-A6C34878D82A}">
                    <a16:rowId xmlns:a16="http://schemas.microsoft.com/office/drawing/2014/main" val="10003"/>
                  </a:ext>
                </a:extLst>
              </a:tr>
              <a:tr h="1038697">
                <a:tc>
                  <a:txBody>
                    <a:bodyPr/>
                    <a:lstStyle/>
                    <a:p>
                      <a:pPr marL="0" algn="l" defTabSz="685800" rtl="0" eaLnBrk="1" fontAlgn="base" latinLnBrk="0" hangingPunct="1"/>
                      <a:r>
                        <a:rPr lang="en-US" sz="2000" b="0" kern="1200" dirty="0">
                          <a:solidFill>
                            <a:schemeClr val="tx1">
                              <a:lumMod val="85000"/>
                              <a:lumOff val="15000"/>
                            </a:schemeClr>
                          </a:solidFill>
                          <a:effectLst/>
                          <a:latin typeface="+mn-lt"/>
                          <a:ea typeface="+mn-ea"/>
                          <a:cs typeface="+mn-cs"/>
                        </a:rPr>
                        <a:t>Part -picking Robot</a:t>
                      </a:r>
                    </a:p>
                  </a:txBody>
                  <a:tcPr marL="67733" marR="67733" marT="67733" marB="67733">
                    <a:lnL w="38100" cap="flat" cmpd="sng" algn="ctr">
                      <a:noFill/>
                      <a:prstDash val="solid"/>
                    </a:lnL>
                    <a:lnR w="38100" cap="flat" cmpd="sng" algn="ctr">
                      <a:solidFill>
                        <a:srgbClr val="FFFFFF"/>
                      </a:solidFill>
                      <a:prstDash val="solid"/>
                      <a:round/>
                      <a:headEnd type="none" w="med" len="med"/>
                      <a:tailEnd type="none" w="med" len="med"/>
                    </a:lnR>
                    <a:lnT w="38100" cap="flat" cmpd="sng" algn="ctr">
                      <a:solidFill>
                        <a:srgbClr val="FFFFFF"/>
                      </a:solidFill>
                      <a:prstDash val="solid"/>
                    </a:lnT>
                    <a:lnB w="12700" cmpd="sng">
                      <a:noFill/>
                      <a:prstDash val="solid"/>
                    </a:lnB>
                    <a:solidFill>
                      <a:srgbClr val="878E8B">
                        <a:alpha val="14902"/>
                      </a:srgbClr>
                    </a:solidFill>
                  </a:tcPr>
                </a:tc>
                <a:tc>
                  <a:txBody>
                    <a:bodyPr/>
                    <a:lstStyle/>
                    <a:p>
                      <a:pPr marL="0" algn="l" defTabSz="685800" rtl="0" eaLnBrk="1" fontAlgn="base" latinLnBrk="0" hangingPunct="1">
                        <a:buFont typeface="Arial" panose="020B0604020202020204" pitchFamily="34" charset="0"/>
                        <a:buNone/>
                      </a:pPr>
                      <a:r>
                        <a:rPr lang="en-US" sz="2000" b="0" kern="1200" dirty="0">
                          <a:solidFill>
                            <a:schemeClr val="tx1">
                              <a:lumMod val="85000"/>
                              <a:lumOff val="15000"/>
                            </a:schemeClr>
                          </a:solidFill>
                          <a:effectLst/>
                          <a:latin typeface="+mn-lt"/>
                          <a:ea typeface="+mn-ea"/>
                          <a:cs typeface="+mn-cs"/>
                        </a:rPr>
                        <a:t>Percentage of parts in </a:t>
                      </a:r>
                      <a:r>
                        <a:rPr lang="en-US" sz="2000" b="0" kern="1200">
                          <a:solidFill>
                            <a:schemeClr val="tx1">
                              <a:lumMod val="85000"/>
                              <a:lumOff val="15000"/>
                            </a:schemeClr>
                          </a:solidFill>
                          <a:effectLst/>
                          <a:latin typeface="+mn-lt"/>
                          <a:ea typeface="+mn-ea"/>
                          <a:cs typeface="+mn-cs"/>
                        </a:rPr>
                        <a:t>correct bins</a:t>
                      </a:r>
                      <a:endParaRPr lang="en-US" sz="2000" b="0" kern="1200" dirty="0">
                        <a:solidFill>
                          <a:schemeClr val="tx1">
                            <a:lumMod val="85000"/>
                            <a:lumOff val="15000"/>
                          </a:schemeClr>
                        </a:solidFill>
                        <a:effectLst/>
                        <a:latin typeface="+mn-lt"/>
                        <a:ea typeface="+mn-ea"/>
                        <a:cs typeface="+mn-cs"/>
                      </a:endParaRPr>
                    </a:p>
                  </a:txBody>
                  <a:tcPr marL="67733" marR="67733" marT="67733" marB="67733">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lnT>
                    <a:lnB w="12700" cmpd="sng">
                      <a:noFill/>
                      <a:prstDash val="solid"/>
                    </a:lnB>
                    <a:solidFill>
                      <a:srgbClr val="878E8B">
                        <a:alpha val="14902"/>
                      </a:srgbClr>
                    </a:solidFill>
                  </a:tcPr>
                </a:tc>
                <a:tc>
                  <a:txBody>
                    <a:bodyPr/>
                    <a:lstStyle/>
                    <a:p>
                      <a:pPr marL="0" algn="l" defTabSz="685800" rtl="0" eaLnBrk="1" fontAlgn="base" latinLnBrk="0" hangingPunct="1">
                        <a:buFont typeface="Arial" panose="020B0604020202020204" pitchFamily="34" charset="0"/>
                        <a:buNone/>
                      </a:pPr>
                      <a:r>
                        <a:rPr lang="en-US" sz="2000" b="0" kern="1200" dirty="0">
                          <a:solidFill>
                            <a:schemeClr val="tx1">
                              <a:lumMod val="85000"/>
                              <a:lumOff val="15000"/>
                            </a:schemeClr>
                          </a:solidFill>
                          <a:effectLst/>
                          <a:latin typeface="+mn-lt"/>
                          <a:ea typeface="+mn-ea"/>
                          <a:cs typeface="+mn-cs"/>
                        </a:rPr>
                        <a:t>Conveyor belt with parts,</a:t>
                      </a:r>
                    </a:p>
                    <a:p>
                      <a:pPr marL="0" algn="l" defTabSz="685800" rtl="0" eaLnBrk="1" fontAlgn="base" latinLnBrk="0" hangingPunct="1">
                        <a:buFont typeface="Arial" panose="020B0604020202020204" pitchFamily="34" charset="0"/>
                        <a:buNone/>
                      </a:pPr>
                      <a:r>
                        <a:rPr lang="en-US" sz="2000" b="0" kern="1200" dirty="0">
                          <a:solidFill>
                            <a:schemeClr val="tx1">
                              <a:lumMod val="85000"/>
                              <a:lumOff val="15000"/>
                            </a:schemeClr>
                          </a:solidFill>
                          <a:effectLst/>
                          <a:latin typeface="+mn-lt"/>
                          <a:ea typeface="+mn-ea"/>
                          <a:cs typeface="+mn-cs"/>
                        </a:rPr>
                        <a:t>Bins</a:t>
                      </a:r>
                    </a:p>
                  </a:txBody>
                  <a:tcPr marL="67733" marR="67733" marT="67733" marB="67733">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lnT>
                    <a:lnB w="12700" cmpd="sng">
                      <a:noFill/>
                      <a:prstDash val="solid"/>
                    </a:lnB>
                    <a:solidFill>
                      <a:srgbClr val="878E8B">
                        <a:alpha val="14902"/>
                      </a:srgbClr>
                    </a:solidFill>
                  </a:tcPr>
                </a:tc>
                <a:tc>
                  <a:txBody>
                    <a:bodyPr/>
                    <a:lstStyle/>
                    <a:p>
                      <a:pPr marL="0" algn="l" defTabSz="685800" rtl="0" eaLnBrk="1" fontAlgn="base" latinLnBrk="0" hangingPunct="1">
                        <a:buFont typeface="Arial" panose="020B0604020202020204" pitchFamily="34" charset="0"/>
                        <a:buNone/>
                      </a:pPr>
                      <a:r>
                        <a:rPr lang="en-US" sz="2000" b="0" kern="1200" dirty="0">
                          <a:solidFill>
                            <a:schemeClr val="tx1">
                              <a:lumMod val="85000"/>
                              <a:lumOff val="15000"/>
                            </a:schemeClr>
                          </a:solidFill>
                          <a:effectLst/>
                          <a:latin typeface="+mn-lt"/>
                          <a:ea typeface="+mn-ea"/>
                          <a:cs typeface="+mn-cs"/>
                        </a:rPr>
                        <a:t>Jointed Arms, Hand</a:t>
                      </a:r>
                    </a:p>
                  </a:txBody>
                  <a:tcPr marL="67733" marR="67733" marT="67733" marB="67733">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lnT>
                    <a:lnB w="12700" cmpd="sng">
                      <a:noFill/>
                      <a:prstDash val="solid"/>
                    </a:lnB>
                    <a:solidFill>
                      <a:srgbClr val="878E8B">
                        <a:alpha val="14902"/>
                      </a:srgbClr>
                    </a:solidFill>
                  </a:tcPr>
                </a:tc>
                <a:tc>
                  <a:txBody>
                    <a:bodyPr/>
                    <a:lstStyle/>
                    <a:p>
                      <a:pPr marL="0" algn="l" defTabSz="685800" rtl="0" eaLnBrk="1" fontAlgn="base" latinLnBrk="0" hangingPunct="1">
                        <a:buFont typeface="Arial" panose="020B0604020202020204" pitchFamily="34" charset="0"/>
                        <a:buNone/>
                      </a:pPr>
                      <a:r>
                        <a:rPr lang="en-US" sz="2000" b="0" kern="1200" dirty="0">
                          <a:solidFill>
                            <a:schemeClr val="tx1">
                              <a:lumMod val="85000"/>
                              <a:lumOff val="15000"/>
                            </a:schemeClr>
                          </a:solidFill>
                          <a:effectLst/>
                          <a:latin typeface="+mn-lt"/>
                          <a:ea typeface="+mn-ea"/>
                          <a:cs typeface="+mn-cs"/>
                        </a:rPr>
                        <a:t>Camera,</a:t>
                      </a:r>
                    </a:p>
                    <a:p>
                      <a:pPr marL="0" algn="l" defTabSz="685800" rtl="0" eaLnBrk="1" fontAlgn="base" latinLnBrk="0" hangingPunct="1">
                        <a:buFont typeface="Arial" panose="020B0604020202020204" pitchFamily="34" charset="0"/>
                        <a:buNone/>
                      </a:pPr>
                      <a:r>
                        <a:rPr lang="en-US" sz="2000" b="0" kern="1200" dirty="0">
                          <a:solidFill>
                            <a:schemeClr val="tx1">
                              <a:lumMod val="85000"/>
                              <a:lumOff val="15000"/>
                            </a:schemeClr>
                          </a:solidFill>
                          <a:effectLst/>
                          <a:latin typeface="+mn-lt"/>
                          <a:ea typeface="+mn-ea"/>
                          <a:cs typeface="+mn-cs"/>
                        </a:rPr>
                        <a:t>Joint angle, sensors</a:t>
                      </a:r>
                    </a:p>
                  </a:txBody>
                  <a:tcPr marL="67733" marR="67733" marT="67733" marB="67733">
                    <a:lnL w="38100" cap="flat" cmpd="sng" algn="ctr">
                      <a:solidFill>
                        <a:srgbClr val="FFFFFF"/>
                      </a:solidFill>
                      <a:prstDash val="solid"/>
                      <a:round/>
                      <a:headEnd type="none" w="med" len="med"/>
                      <a:tailEnd type="none" w="med" len="med"/>
                    </a:lnL>
                    <a:lnR w="38100" cap="flat" cmpd="sng" algn="ctr">
                      <a:noFill/>
                      <a:prstDash val="solid"/>
                    </a:lnR>
                    <a:lnT w="38100" cap="flat" cmpd="sng" algn="ctr">
                      <a:solidFill>
                        <a:srgbClr val="FFFFFF"/>
                      </a:solidFill>
                      <a:prstDash val="solid"/>
                    </a:lnT>
                    <a:lnB w="12700" cmpd="sng">
                      <a:noFill/>
                      <a:prstDash val="solid"/>
                    </a:lnB>
                    <a:solidFill>
                      <a:srgbClr val="878E8B">
                        <a:alpha val="14902"/>
                      </a:srgb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4A689-1456-A3F5-C461-E3A49E1133B7}"/>
              </a:ext>
            </a:extLst>
          </p:cNvPr>
          <p:cNvSpPr>
            <a:spLocks noGrp="1"/>
          </p:cNvSpPr>
          <p:nvPr>
            <p:ph type="title"/>
          </p:nvPr>
        </p:nvSpPr>
        <p:spPr>
          <a:xfrm>
            <a:off x="714932" y="0"/>
            <a:ext cx="10515600" cy="895739"/>
          </a:xfrm>
        </p:spPr>
        <p:txBody>
          <a:bodyPr>
            <a:normAutofit/>
          </a:bodyPr>
          <a:lstStyle/>
          <a:p>
            <a:r>
              <a:rPr lang="en-US" b="1" dirty="0"/>
              <a:t>The different types of agents</a:t>
            </a:r>
            <a:endParaRPr lang="en-US" dirty="0"/>
          </a:p>
        </p:txBody>
      </p:sp>
      <p:sp>
        <p:nvSpPr>
          <p:cNvPr id="4" name="Slide Number Placeholder 3">
            <a:extLst>
              <a:ext uri="{FF2B5EF4-FFF2-40B4-BE49-F238E27FC236}">
                <a16:creationId xmlns:a16="http://schemas.microsoft.com/office/drawing/2014/main" id="{769191AE-C3D5-D04B-9072-FB7787B297DA}"/>
              </a:ext>
            </a:extLst>
          </p:cNvPr>
          <p:cNvSpPr>
            <a:spLocks noGrp="1"/>
          </p:cNvSpPr>
          <p:nvPr>
            <p:ph type="sldNum" sz="quarter" idx="12"/>
          </p:nvPr>
        </p:nvSpPr>
        <p:spPr/>
        <p:txBody>
          <a:bodyPr/>
          <a:lstStyle/>
          <a:p>
            <a:fld id="{9B618960-8005-486C-9A75-10CB2AAC16F9}" type="slidenum">
              <a:rPr lang="en-US" smtClean="0"/>
              <a:t>15</a:t>
            </a:fld>
            <a:endParaRPr lang="en-US"/>
          </a:p>
        </p:txBody>
      </p:sp>
      <p:graphicFrame>
        <p:nvGraphicFramePr>
          <p:cNvPr id="5" name="Table 4">
            <a:extLst>
              <a:ext uri="{FF2B5EF4-FFF2-40B4-BE49-F238E27FC236}">
                <a16:creationId xmlns:a16="http://schemas.microsoft.com/office/drawing/2014/main" id="{61CB5F95-B647-8AB2-9F59-92B019DA0339}"/>
              </a:ext>
            </a:extLst>
          </p:cNvPr>
          <p:cNvGraphicFramePr>
            <a:graphicFrameLocks noGrp="1"/>
          </p:cNvGraphicFramePr>
          <p:nvPr>
            <p:extLst>
              <p:ext uri="{D42A27DB-BD31-4B8C-83A1-F6EECF244321}">
                <p14:modId xmlns:p14="http://schemas.microsoft.com/office/powerpoint/2010/main" val="94039728"/>
              </p:ext>
            </p:extLst>
          </p:nvPr>
        </p:nvGraphicFramePr>
        <p:xfrm>
          <a:off x="304385" y="900990"/>
          <a:ext cx="11336694" cy="5455360"/>
        </p:xfrm>
        <a:graphic>
          <a:graphicData uri="http://schemas.openxmlformats.org/drawingml/2006/table">
            <a:tbl>
              <a:tblPr/>
              <a:tblGrid>
                <a:gridCol w="2311169">
                  <a:extLst>
                    <a:ext uri="{9D8B030D-6E8A-4147-A177-3AD203B41FA5}">
                      <a16:colId xmlns:a16="http://schemas.microsoft.com/office/drawing/2014/main" val="2351416930"/>
                    </a:ext>
                  </a:extLst>
                </a:gridCol>
                <a:gridCol w="3848683">
                  <a:extLst>
                    <a:ext uri="{9D8B030D-6E8A-4147-A177-3AD203B41FA5}">
                      <a16:colId xmlns:a16="http://schemas.microsoft.com/office/drawing/2014/main" val="3321208907"/>
                    </a:ext>
                  </a:extLst>
                </a:gridCol>
                <a:gridCol w="5176842">
                  <a:extLst>
                    <a:ext uri="{9D8B030D-6E8A-4147-A177-3AD203B41FA5}">
                      <a16:colId xmlns:a16="http://schemas.microsoft.com/office/drawing/2014/main" val="1415136605"/>
                    </a:ext>
                  </a:extLst>
                </a:gridCol>
              </a:tblGrid>
              <a:tr h="279114">
                <a:tc>
                  <a:txBody>
                    <a:bodyPr/>
                    <a:lstStyle/>
                    <a:p>
                      <a:pPr>
                        <a:buNone/>
                      </a:pPr>
                      <a:r>
                        <a:rPr lang="en-US" sz="1600" b="1" dirty="0">
                          <a:effectLst/>
                        </a:rPr>
                        <a:t>Agent Type</a:t>
                      </a:r>
                    </a:p>
                  </a:txBody>
                  <a:tcPr marL="45326" marR="45326" marT="20920" marB="20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US" sz="1600" b="1">
                          <a:effectLst/>
                        </a:rPr>
                        <a:t>Description</a:t>
                      </a:r>
                    </a:p>
                  </a:txBody>
                  <a:tcPr marL="45326" marR="45326" marT="20920" marB="20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US" sz="1600" b="1">
                          <a:effectLst/>
                        </a:rPr>
                        <a:t>Example</a:t>
                      </a:r>
                    </a:p>
                  </a:txBody>
                  <a:tcPr marL="45326" marR="45326" marT="20920" marB="20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890399353"/>
                  </a:ext>
                </a:extLst>
              </a:tr>
              <a:tr h="517350">
                <a:tc>
                  <a:txBody>
                    <a:bodyPr/>
                    <a:lstStyle/>
                    <a:p>
                      <a:pPr>
                        <a:buNone/>
                      </a:pPr>
                      <a:r>
                        <a:rPr lang="en-US" sz="1600" b="1">
                          <a:effectLst/>
                        </a:rPr>
                        <a:t>Simple Reflex Agents</a:t>
                      </a:r>
                      <a:endParaRPr lang="en-US" sz="1600">
                        <a:effectLst/>
                      </a:endParaRPr>
                    </a:p>
                  </a:txBody>
                  <a:tcPr marL="45326" marR="45326" marT="20920" marB="20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US" sz="1600">
                          <a:effectLst/>
                        </a:rPr>
                        <a:t>Perform immediate actions based on predefined rules.</a:t>
                      </a:r>
                    </a:p>
                  </a:txBody>
                  <a:tcPr marL="45326" marR="45326" marT="20920" marB="20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US" sz="1600">
                          <a:effectLst/>
                        </a:rPr>
                        <a:t>Travel agent interprets the context of the email and forwards travel complaints to customer service.</a:t>
                      </a:r>
                    </a:p>
                  </a:txBody>
                  <a:tcPr marL="45326" marR="45326" marT="20920" marB="20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51561726"/>
                  </a:ext>
                </a:extLst>
              </a:tr>
              <a:tr h="517350">
                <a:tc>
                  <a:txBody>
                    <a:bodyPr/>
                    <a:lstStyle/>
                    <a:p>
                      <a:pPr>
                        <a:buNone/>
                      </a:pPr>
                      <a:r>
                        <a:rPr lang="en-US" sz="1600" b="1">
                          <a:effectLst/>
                        </a:rPr>
                        <a:t>Model-Based Reflex Agents</a:t>
                      </a:r>
                      <a:endParaRPr lang="en-US" sz="1600">
                        <a:effectLst/>
                      </a:endParaRPr>
                    </a:p>
                  </a:txBody>
                  <a:tcPr marL="45326" marR="45326" marT="20920" marB="20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F8FA"/>
                    </a:solidFill>
                  </a:tcPr>
                </a:tc>
                <a:tc>
                  <a:txBody>
                    <a:bodyPr/>
                    <a:lstStyle/>
                    <a:p>
                      <a:pPr>
                        <a:buNone/>
                      </a:pPr>
                      <a:r>
                        <a:rPr lang="en-US" sz="1600">
                          <a:effectLst/>
                        </a:rPr>
                        <a:t>Perform actions based on a model of the world and changes to that model.</a:t>
                      </a:r>
                    </a:p>
                  </a:txBody>
                  <a:tcPr marL="45326" marR="45326" marT="20920" marB="20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F8FA"/>
                    </a:solidFill>
                  </a:tcPr>
                </a:tc>
                <a:tc>
                  <a:txBody>
                    <a:bodyPr/>
                    <a:lstStyle/>
                    <a:p>
                      <a:pPr>
                        <a:buNone/>
                      </a:pPr>
                      <a:r>
                        <a:rPr lang="en-US" sz="1600">
                          <a:effectLst/>
                        </a:rPr>
                        <a:t>Travel agent prioritizes routes with significant price changes based on access to historical pricing data.</a:t>
                      </a:r>
                    </a:p>
                  </a:txBody>
                  <a:tcPr marL="45326" marR="45326" marT="20920" marB="20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F8FA"/>
                    </a:solidFill>
                  </a:tcPr>
                </a:tc>
                <a:extLst>
                  <a:ext uri="{0D108BD9-81ED-4DB2-BD59-A6C34878D82A}">
                    <a16:rowId xmlns:a16="http://schemas.microsoft.com/office/drawing/2014/main" val="3698408799"/>
                  </a:ext>
                </a:extLst>
              </a:tr>
              <a:tr h="755586">
                <a:tc>
                  <a:txBody>
                    <a:bodyPr/>
                    <a:lstStyle/>
                    <a:p>
                      <a:pPr>
                        <a:buNone/>
                      </a:pPr>
                      <a:r>
                        <a:rPr lang="en-US" sz="1600" b="1">
                          <a:effectLst/>
                        </a:rPr>
                        <a:t>Goal-Based Agents</a:t>
                      </a:r>
                      <a:endParaRPr lang="en-US" sz="1600">
                        <a:effectLst/>
                      </a:endParaRPr>
                    </a:p>
                  </a:txBody>
                  <a:tcPr marL="45326" marR="45326" marT="20920" marB="20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US" sz="1600">
                          <a:effectLst/>
                        </a:rPr>
                        <a:t>Create plans to achieve specific goals by interpreting the goal and determining actions to reach it.</a:t>
                      </a:r>
                    </a:p>
                  </a:txBody>
                  <a:tcPr marL="45326" marR="45326" marT="20920" marB="20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US" sz="1600">
                          <a:effectLst/>
                        </a:rPr>
                        <a:t>Travel agent books a journey by determining necessary travel arrangements (car, public transit, flights) from the current location to the destination.</a:t>
                      </a:r>
                    </a:p>
                  </a:txBody>
                  <a:tcPr marL="45326" marR="45326" marT="20920" marB="20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998727765"/>
                  </a:ext>
                </a:extLst>
              </a:tr>
              <a:tr h="755586">
                <a:tc>
                  <a:txBody>
                    <a:bodyPr/>
                    <a:lstStyle/>
                    <a:p>
                      <a:pPr>
                        <a:buNone/>
                      </a:pPr>
                      <a:r>
                        <a:rPr lang="en-US" sz="1600" b="1">
                          <a:effectLst/>
                        </a:rPr>
                        <a:t>Utility-Based Agents</a:t>
                      </a:r>
                      <a:endParaRPr lang="en-US" sz="1600">
                        <a:effectLst/>
                      </a:endParaRPr>
                    </a:p>
                  </a:txBody>
                  <a:tcPr marL="45326" marR="45326" marT="20920" marB="20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F8FA"/>
                    </a:solidFill>
                  </a:tcPr>
                </a:tc>
                <a:tc>
                  <a:txBody>
                    <a:bodyPr/>
                    <a:lstStyle/>
                    <a:p>
                      <a:pPr>
                        <a:buNone/>
                      </a:pPr>
                      <a:r>
                        <a:rPr lang="en-US" sz="1600">
                          <a:effectLst/>
                        </a:rPr>
                        <a:t>Consider preferences and weigh tradeoffs numerically to determine how to achieve goals.</a:t>
                      </a:r>
                    </a:p>
                  </a:txBody>
                  <a:tcPr marL="45326" marR="45326" marT="20920" marB="20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F8FA"/>
                    </a:solidFill>
                  </a:tcPr>
                </a:tc>
                <a:tc>
                  <a:txBody>
                    <a:bodyPr/>
                    <a:lstStyle/>
                    <a:p>
                      <a:pPr>
                        <a:buNone/>
                      </a:pPr>
                      <a:r>
                        <a:rPr lang="en-US" sz="1600">
                          <a:effectLst/>
                        </a:rPr>
                        <a:t>Travel agent maximizes utility by weighing convenience vs. cost when booking travel.</a:t>
                      </a:r>
                    </a:p>
                  </a:txBody>
                  <a:tcPr marL="45326" marR="45326" marT="20920" marB="20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F8FA"/>
                    </a:solidFill>
                  </a:tcPr>
                </a:tc>
                <a:extLst>
                  <a:ext uri="{0D108BD9-81ED-4DB2-BD59-A6C34878D82A}">
                    <a16:rowId xmlns:a16="http://schemas.microsoft.com/office/drawing/2014/main" val="2934928176"/>
                  </a:ext>
                </a:extLst>
              </a:tr>
              <a:tr h="517350">
                <a:tc>
                  <a:txBody>
                    <a:bodyPr/>
                    <a:lstStyle/>
                    <a:p>
                      <a:pPr>
                        <a:buNone/>
                      </a:pPr>
                      <a:r>
                        <a:rPr lang="en-US" sz="1600" b="1">
                          <a:effectLst/>
                        </a:rPr>
                        <a:t>Learning Agents</a:t>
                      </a:r>
                      <a:endParaRPr lang="en-US" sz="1600">
                        <a:effectLst/>
                      </a:endParaRPr>
                    </a:p>
                  </a:txBody>
                  <a:tcPr marL="45326" marR="45326" marT="20920" marB="20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US" sz="1600">
                          <a:effectLst/>
                        </a:rPr>
                        <a:t>Improve over time by responding to feedback and adjusting actions accordingly.</a:t>
                      </a:r>
                    </a:p>
                  </a:txBody>
                  <a:tcPr marL="45326" marR="45326" marT="20920" marB="20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US" sz="1600">
                          <a:effectLst/>
                        </a:rPr>
                        <a:t>Travel agent improves by using customer feedback from post-trip surveys to make adjustments to future bookings.</a:t>
                      </a:r>
                    </a:p>
                  </a:txBody>
                  <a:tcPr marL="45326" marR="45326" marT="20920" marB="20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756075030"/>
                  </a:ext>
                </a:extLst>
              </a:tr>
              <a:tr h="993822">
                <a:tc>
                  <a:txBody>
                    <a:bodyPr/>
                    <a:lstStyle/>
                    <a:p>
                      <a:pPr>
                        <a:buNone/>
                      </a:pPr>
                      <a:r>
                        <a:rPr lang="en-US" sz="1600" b="1">
                          <a:effectLst/>
                        </a:rPr>
                        <a:t>Hierarchical Agents</a:t>
                      </a:r>
                      <a:endParaRPr lang="en-US" sz="1600">
                        <a:effectLst/>
                      </a:endParaRPr>
                    </a:p>
                  </a:txBody>
                  <a:tcPr marL="45326" marR="45326" marT="20920" marB="20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F8FA"/>
                    </a:solidFill>
                  </a:tcPr>
                </a:tc>
                <a:tc>
                  <a:txBody>
                    <a:bodyPr/>
                    <a:lstStyle/>
                    <a:p>
                      <a:pPr>
                        <a:buNone/>
                      </a:pPr>
                      <a:r>
                        <a:rPr lang="en-US" sz="1600">
                          <a:effectLst/>
                        </a:rPr>
                        <a:t>Feature multiple agents in a tiered system, with higher-level agents breaking tasks into subtasks for lower-level agents to complete.</a:t>
                      </a:r>
                    </a:p>
                  </a:txBody>
                  <a:tcPr marL="45326" marR="45326" marT="20920" marB="20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F8FA"/>
                    </a:solidFill>
                  </a:tcPr>
                </a:tc>
                <a:tc>
                  <a:txBody>
                    <a:bodyPr/>
                    <a:lstStyle/>
                    <a:p>
                      <a:pPr>
                        <a:buNone/>
                      </a:pPr>
                      <a:r>
                        <a:rPr lang="en-US" sz="1600">
                          <a:effectLst/>
                        </a:rPr>
                        <a:t>Travel agent cancels a trip by dividing the task into subtasks (for example, canceling specific bookings) and having lower-level agents complete them, reporting back to the higher-level agent.</a:t>
                      </a:r>
                    </a:p>
                  </a:txBody>
                  <a:tcPr marL="45326" marR="45326" marT="20920" marB="20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F8FA"/>
                    </a:solidFill>
                  </a:tcPr>
                </a:tc>
                <a:extLst>
                  <a:ext uri="{0D108BD9-81ED-4DB2-BD59-A6C34878D82A}">
                    <a16:rowId xmlns:a16="http://schemas.microsoft.com/office/drawing/2014/main" val="3581684359"/>
                  </a:ext>
                </a:extLst>
              </a:tr>
              <a:tr h="993822">
                <a:tc>
                  <a:txBody>
                    <a:bodyPr/>
                    <a:lstStyle/>
                    <a:p>
                      <a:pPr>
                        <a:buNone/>
                      </a:pPr>
                      <a:r>
                        <a:rPr lang="en-US" sz="1600" b="1">
                          <a:effectLst/>
                        </a:rPr>
                        <a:t>Multi-Agent Systems (MAS)</a:t>
                      </a:r>
                      <a:endParaRPr lang="en-US" sz="1600">
                        <a:effectLst/>
                      </a:endParaRPr>
                    </a:p>
                  </a:txBody>
                  <a:tcPr marL="45326" marR="45326" marT="20920" marB="20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US" sz="1600" dirty="0">
                          <a:effectLst/>
                        </a:rPr>
                        <a:t>Agents complete tasks independently, either cooperatively or competitively.</a:t>
                      </a:r>
                    </a:p>
                  </a:txBody>
                  <a:tcPr marL="45326" marR="45326" marT="20920" marB="20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US" sz="1600" dirty="0">
                          <a:effectLst/>
                        </a:rPr>
                        <a:t>Cooperative: Multiple agents book specific travel services such as hotels, flights, and entertainment. Competitive: Multiple agents manage and compete over a shared hotel booking calendar to book customers into the hotel.</a:t>
                      </a:r>
                    </a:p>
                  </a:txBody>
                  <a:tcPr marL="45326" marR="45326" marT="20920" marB="20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793882108"/>
                  </a:ext>
                </a:extLst>
              </a:tr>
            </a:tbl>
          </a:graphicData>
        </a:graphic>
      </p:graphicFrame>
    </p:spTree>
    <p:extLst>
      <p:ext uri="{BB962C8B-B14F-4D97-AF65-F5344CB8AC3E}">
        <p14:creationId xmlns:p14="http://schemas.microsoft.com/office/powerpoint/2010/main" val="41441215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886C3-2E9A-D4C9-A9CC-3780D875792D}"/>
              </a:ext>
            </a:extLst>
          </p:cNvPr>
          <p:cNvSpPr>
            <a:spLocks noGrp="1"/>
          </p:cNvSpPr>
          <p:nvPr>
            <p:ph type="title"/>
          </p:nvPr>
        </p:nvSpPr>
        <p:spPr/>
        <p:txBody>
          <a:bodyPr/>
          <a:lstStyle/>
          <a:p>
            <a:r>
              <a:rPr lang="en-US" b="1" dirty="0"/>
              <a:t>Definitions </a:t>
            </a:r>
            <a:endParaRPr lang="en-US" dirty="0"/>
          </a:p>
        </p:txBody>
      </p:sp>
      <p:sp>
        <p:nvSpPr>
          <p:cNvPr id="3" name="Content Placeholder 2">
            <a:extLst>
              <a:ext uri="{FF2B5EF4-FFF2-40B4-BE49-F238E27FC236}">
                <a16:creationId xmlns:a16="http://schemas.microsoft.com/office/drawing/2014/main" id="{AFE104EE-D4BD-959D-0DEB-3357E90E93CB}"/>
              </a:ext>
            </a:extLst>
          </p:cNvPr>
          <p:cNvSpPr>
            <a:spLocks noGrp="1"/>
          </p:cNvSpPr>
          <p:nvPr>
            <p:ph idx="1"/>
          </p:nvPr>
        </p:nvSpPr>
        <p:spPr/>
        <p:txBody>
          <a:bodyPr>
            <a:normAutofit/>
          </a:bodyPr>
          <a:lstStyle/>
          <a:p>
            <a:r>
              <a:rPr lang="en-US" b="1" dirty="0"/>
              <a:t>LLM (Large Language Model)</a:t>
            </a:r>
            <a:r>
              <a:rPr lang="en-US" dirty="0"/>
              <a:t>: A foundational AI model trained on vast amounts of text to predict and generate human-like language. It responds to prompts but </a:t>
            </a:r>
            <a:r>
              <a:rPr lang="en-US" b="1" dirty="0"/>
              <a:t>does not have goals or plans</a:t>
            </a:r>
            <a:r>
              <a:rPr lang="en-US" dirty="0"/>
              <a:t> on its own. </a:t>
            </a:r>
            <a:r>
              <a:rPr lang="en-US" b="1" dirty="0"/>
              <a:t>Example</a:t>
            </a:r>
            <a:r>
              <a:rPr lang="en-US" dirty="0"/>
              <a:t>: GPT, Claude, </a:t>
            </a:r>
            <a:r>
              <a:rPr lang="en-US" dirty="0" err="1"/>
              <a:t>LLaMA</a:t>
            </a:r>
            <a:r>
              <a:rPr lang="en-US" dirty="0"/>
              <a:t>.</a:t>
            </a:r>
          </a:p>
          <a:p>
            <a:r>
              <a:rPr lang="en-US" b="1" dirty="0"/>
              <a:t>Agentic AI</a:t>
            </a:r>
            <a:r>
              <a:rPr lang="en-US" dirty="0"/>
              <a:t>: An AI system that </a:t>
            </a:r>
            <a:r>
              <a:rPr lang="en-US" b="1" dirty="0"/>
              <a:t>exhibits agent-like behavior</a:t>
            </a:r>
            <a:r>
              <a:rPr lang="en-US" dirty="0"/>
              <a:t>, including the ability to plan, make decisions, take actions, and use tools to accomplish goals </a:t>
            </a:r>
            <a:r>
              <a:rPr lang="en-US" b="1" dirty="0"/>
              <a:t>autonomously or semi-autonomously</a:t>
            </a:r>
            <a:r>
              <a:rPr lang="en-US" dirty="0"/>
              <a:t>. </a:t>
            </a:r>
            <a:br>
              <a:rPr lang="en-US" dirty="0"/>
            </a:br>
            <a:br>
              <a:rPr lang="en-US" dirty="0"/>
            </a:br>
            <a:endParaRPr lang="en-US" dirty="0"/>
          </a:p>
        </p:txBody>
      </p:sp>
      <p:sp>
        <p:nvSpPr>
          <p:cNvPr id="4" name="Slide Number Placeholder 3">
            <a:extLst>
              <a:ext uri="{FF2B5EF4-FFF2-40B4-BE49-F238E27FC236}">
                <a16:creationId xmlns:a16="http://schemas.microsoft.com/office/drawing/2014/main" id="{EC35E2AA-8917-C03D-8C15-1D23185936EA}"/>
              </a:ext>
            </a:extLst>
          </p:cNvPr>
          <p:cNvSpPr>
            <a:spLocks noGrp="1"/>
          </p:cNvSpPr>
          <p:nvPr>
            <p:ph type="sldNum" sz="quarter" idx="12"/>
          </p:nvPr>
        </p:nvSpPr>
        <p:spPr/>
        <p:txBody>
          <a:bodyPr/>
          <a:lstStyle/>
          <a:p>
            <a:fld id="{9B618960-8005-486C-9A75-10CB2AAC16F9}" type="slidenum">
              <a:rPr lang="en-US" smtClean="0"/>
              <a:t>16</a:t>
            </a:fld>
            <a:endParaRPr lang="en-US"/>
          </a:p>
        </p:txBody>
      </p:sp>
    </p:spTree>
    <p:extLst>
      <p:ext uri="{BB962C8B-B14F-4D97-AF65-F5344CB8AC3E}">
        <p14:creationId xmlns:p14="http://schemas.microsoft.com/office/powerpoint/2010/main" val="24881044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8DB19-34A5-B009-B426-B67B86AC297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DC36C01-F6ED-2DA8-E07C-18AAE85DDB71}"/>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65D17DD1-257A-FC55-1E28-5C118814E3DC}"/>
              </a:ext>
            </a:extLst>
          </p:cNvPr>
          <p:cNvSpPr>
            <a:spLocks noGrp="1"/>
          </p:cNvSpPr>
          <p:nvPr>
            <p:ph type="sldNum" sz="quarter" idx="12"/>
          </p:nvPr>
        </p:nvSpPr>
        <p:spPr/>
        <p:txBody>
          <a:bodyPr/>
          <a:lstStyle/>
          <a:p>
            <a:fld id="{9B618960-8005-486C-9A75-10CB2AAC16F9}" type="slidenum">
              <a:rPr lang="en-US" smtClean="0"/>
              <a:t>17</a:t>
            </a:fld>
            <a:endParaRPr lang="en-US"/>
          </a:p>
        </p:txBody>
      </p:sp>
      <p:pic>
        <p:nvPicPr>
          <p:cNvPr id="2050" name="Picture 2" descr="What Are AI Agents?">
            <a:extLst>
              <a:ext uri="{FF2B5EF4-FFF2-40B4-BE49-F238E27FC236}">
                <a16:creationId xmlns:a16="http://schemas.microsoft.com/office/drawing/2014/main" id="{EAA88FBC-D380-122A-DA39-1069AD841B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35611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6784D-1D4A-FE68-2B44-EEBC8981A35B}"/>
              </a:ext>
            </a:extLst>
          </p:cNvPr>
          <p:cNvSpPr>
            <a:spLocks noGrp="1"/>
          </p:cNvSpPr>
          <p:nvPr>
            <p:ph type="title"/>
          </p:nvPr>
        </p:nvSpPr>
        <p:spPr/>
        <p:txBody>
          <a:bodyPr>
            <a:normAutofit/>
          </a:bodyPr>
          <a:lstStyle/>
          <a:p>
            <a:r>
              <a:rPr lang="en-US" b="1" dirty="0"/>
              <a:t>Tool Use Design Pattern</a:t>
            </a:r>
            <a:endParaRPr lang="en-US" dirty="0"/>
          </a:p>
        </p:txBody>
      </p:sp>
      <p:sp>
        <p:nvSpPr>
          <p:cNvPr id="3" name="Content Placeholder 2">
            <a:extLst>
              <a:ext uri="{FF2B5EF4-FFF2-40B4-BE49-F238E27FC236}">
                <a16:creationId xmlns:a16="http://schemas.microsoft.com/office/drawing/2014/main" id="{8808F3EC-6F48-A1CD-AB03-6E0D75F2A6A0}"/>
              </a:ext>
            </a:extLst>
          </p:cNvPr>
          <p:cNvSpPr>
            <a:spLocks noGrp="1"/>
          </p:cNvSpPr>
          <p:nvPr>
            <p:ph idx="1"/>
          </p:nvPr>
        </p:nvSpPr>
        <p:spPr/>
        <p:txBody>
          <a:bodyPr/>
          <a:lstStyle/>
          <a:p>
            <a:r>
              <a:rPr lang="en-US" dirty="0"/>
              <a:t>Tools allow AI agents to have a broader range of capabilities. </a:t>
            </a:r>
          </a:p>
          <a:p>
            <a:r>
              <a:rPr lang="en-US" dirty="0"/>
              <a:t>By adding a tool, the agent can now perform a wide range of actions instead of limit set of actions. </a:t>
            </a:r>
          </a:p>
        </p:txBody>
      </p:sp>
      <p:sp>
        <p:nvSpPr>
          <p:cNvPr id="4" name="Slide Number Placeholder 3">
            <a:extLst>
              <a:ext uri="{FF2B5EF4-FFF2-40B4-BE49-F238E27FC236}">
                <a16:creationId xmlns:a16="http://schemas.microsoft.com/office/drawing/2014/main" id="{FECF2EC3-3C95-3DF5-F70F-7C04EEF7B52F}"/>
              </a:ext>
            </a:extLst>
          </p:cNvPr>
          <p:cNvSpPr>
            <a:spLocks noGrp="1"/>
          </p:cNvSpPr>
          <p:nvPr>
            <p:ph type="sldNum" sz="quarter" idx="12"/>
          </p:nvPr>
        </p:nvSpPr>
        <p:spPr/>
        <p:txBody>
          <a:bodyPr/>
          <a:lstStyle/>
          <a:p>
            <a:fld id="{9B618960-8005-486C-9A75-10CB2AAC16F9}" type="slidenum">
              <a:rPr lang="en-US" smtClean="0"/>
              <a:t>18</a:t>
            </a:fld>
            <a:endParaRPr lang="en-US"/>
          </a:p>
        </p:txBody>
      </p:sp>
    </p:spTree>
    <p:extLst>
      <p:ext uri="{BB962C8B-B14F-4D97-AF65-F5344CB8AC3E}">
        <p14:creationId xmlns:p14="http://schemas.microsoft.com/office/powerpoint/2010/main" val="3585848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4AC0D-8607-6246-A7E5-EFBF5C81798B}"/>
              </a:ext>
            </a:extLst>
          </p:cNvPr>
          <p:cNvSpPr>
            <a:spLocks noGrp="1"/>
          </p:cNvSpPr>
          <p:nvPr>
            <p:ph type="title"/>
          </p:nvPr>
        </p:nvSpPr>
        <p:spPr/>
        <p:txBody>
          <a:bodyPr>
            <a:normAutofit/>
          </a:bodyPr>
          <a:lstStyle/>
          <a:p>
            <a:r>
              <a:rPr lang="en-US" b="1" dirty="0"/>
              <a:t>What is the Tool Use Design Pattern?</a:t>
            </a:r>
            <a:endParaRPr lang="en-US" dirty="0"/>
          </a:p>
        </p:txBody>
      </p:sp>
      <p:sp>
        <p:nvSpPr>
          <p:cNvPr id="3" name="Content Placeholder 2">
            <a:extLst>
              <a:ext uri="{FF2B5EF4-FFF2-40B4-BE49-F238E27FC236}">
                <a16:creationId xmlns:a16="http://schemas.microsoft.com/office/drawing/2014/main" id="{CBA30846-BD28-7CFD-DC74-DF1E66C01762}"/>
              </a:ext>
            </a:extLst>
          </p:cNvPr>
          <p:cNvSpPr>
            <a:spLocks noGrp="1"/>
          </p:cNvSpPr>
          <p:nvPr>
            <p:ph idx="1"/>
          </p:nvPr>
        </p:nvSpPr>
        <p:spPr/>
        <p:txBody>
          <a:bodyPr/>
          <a:lstStyle/>
          <a:p>
            <a:r>
              <a:rPr lang="en-US" dirty="0"/>
              <a:t>The </a:t>
            </a:r>
            <a:r>
              <a:rPr lang="en-US" b="1" dirty="0"/>
              <a:t>Tool Use Design Pattern</a:t>
            </a:r>
            <a:r>
              <a:rPr lang="en-US" dirty="0"/>
              <a:t> focuses on giving LLMs the ability to interact with external tools to achieve specific goals. </a:t>
            </a:r>
          </a:p>
          <a:p>
            <a:r>
              <a:rPr lang="en-US" dirty="0"/>
              <a:t>Tools are code that can be executed by an agent to perform actions. </a:t>
            </a:r>
          </a:p>
          <a:p>
            <a:r>
              <a:rPr lang="en-US" dirty="0"/>
              <a:t>A tool can be a simple function such as a calculator, or an API call to a third-party service such as stock price lookup or weather forecast. </a:t>
            </a:r>
          </a:p>
          <a:p>
            <a:endParaRPr lang="en-US" dirty="0"/>
          </a:p>
        </p:txBody>
      </p:sp>
      <p:sp>
        <p:nvSpPr>
          <p:cNvPr id="4" name="Slide Number Placeholder 3">
            <a:extLst>
              <a:ext uri="{FF2B5EF4-FFF2-40B4-BE49-F238E27FC236}">
                <a16:creationId xmlns:a16="http://schemas.microsoft.com/office/drawing/2014/main" id="{53C806AC-A341-A005-53CB-F8B320F7A55E}"/>
              </a:ext>
            </a:extLst>
          </p:cNvPr>
          <p:cNvSpPr>
            <a:spLocks noGrp="1"/>
          </p:cNvSpPr>
          <p:nvPr>
            <p:ph type="sldNum" sz="quarter" idx="12"/>
          </p:nvPr>
        </p:nvSpPr>
        <p:spPr/>
        <p:txBody>
          <a:bodyPr/>
          <a:lstStyle/>
          <a:p>
            <a:fld id="{9B618960-8005-486C-9A75-10CB2AAC16F9}" type="slidenum">
              <a:rPr lang="en-US" smtClean="0"/>
              <a:t>19</a:t>
            </a:fld>
            <a:endParaRPr lang="en-US"/>
          </a:p>
        </p:txBody>
      </p:sp>
    </p:spTree>
    <p:extLst>
      <p:ext uri="{BB962C8B-B14F-4D97-AF65-F5344CB8AC3E}">
        <p14:creationId xmlns:p14="http://schemas.microsoft.com/office/powerpoint/2010/main" val="22616733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2EAE1-16AE-3B90-193E-786C37AE4D68}"/>
              </a:ext>
            </a:extLst>
          </p:cNvPr>
          <p:cNvSpPr>
            <a:spLocks noGrp="1"/>
          </p:cNvSpPr>
          <p:nvPr>
            <p:ph type="title"/>
          </p:nvPr>
        </p:nvSpPr>
        <p:spPr/>
        <p:txBody>
          <a:bodyPr>
            <a:normAutofit/>
          </a:bodyPr>
          <a:lstStyle/>
          <a:p>
            <a:r>
              <a:rPr lang="en-US" b="1" dirty="0"/>
              <a:t>What are the use cases it can be applied to?</a:t>
            </a:r>
            <a:endParaRPr lang="en-US" dirty="0"/>
          </a:p>
        </p:txBody>
      </p:sp>
      <p:sp>
        <p:nvSpPr>
          <p:cNvPr id="3" name="Content Placeholder 2">
            <a:extLst>
              <a:ext uri="{FF2B5EF4-FFF2-40B4-BE49-F238E27FC236}">
                <a16:creationId xmlns:a16="http://schemas.microsoft.com/office/drawing/2014/main" id="{4EE3DABC-FA00-D9B7-A811-412F11BA2A2D}"/>
              </a:ext>
            </a:extLst>
          </p:cNvPr>
          <p:cNvSpPr>
            <a:spLocks noGrp="1"/>
          </p:cNvSpPr>
          <p:nvPr>
            <p:ph idx="1"/>
          </p:nvPr>
        </p:nvSpPr>
        <p:spPr/>
        <p:txBody>
          <a:bodyPr>
            <a:normAutofit fontScale="92500" lnSpcReduction="20000"/>
          </a:bodyPr>
          <a:lstStyle/>
          <a:p>
            <a:r>
              <a:rPr lang="en-US" b="1" dirty="0"/>
              <a:t>Dynamic Information Retrieval:</a:t>
            </a:r>
            <a:r>
              <a:rPr lang="en-US" dirty="0"/>
              <a:t> Agents can query external APIs or databases to fetch up-to-date data (e.g., querying a SQLite database for data analysis, fetching stock prices or weather information).</a:t>
            </a:r>
          </a:p>
          <a:p>
            <a:r>
              <a:rPr lang="en-US" b="1" dirty="0"/>
              <a:t>Code Execution and Interpretation:</a:t>
            </a:r>
            <a:r>
              <a:rPr lang="en-US" dirty="0"/>
              <a:t> Agents can execute code or scripts to solve mathematical problems, generate reports, or perform simulations.</a:t>
            </a:r>
          </a:p>
          <a:p>
            <a:r>
              <a:rPr lang="en-US" b="1" dirty="0"/>
              <a:t>Workflow Automation:</a:t>
            </a:r>
            <a:r>
              <a:rPr lang="en-US" dirty="0"/>
              <a:t> Automating repetitive or multi-step workflows by integrating tools like task schedulers, email services, or data pipelines.</a:t>
            </a:r>
          </a:p>
          <a:p>
            <a:r>
              <a:rPr lang="en-US" b="1" dirty="0"/>
              <a:t>Customer Support:</a:t>
            </a:r>
            <a:r>
              <a:rPr lang="en-US" dirty="0"/>
              <a:t> Agents can interact with CRM systems, ticketing platforms, or knowledge bases to resolve user queries.</a:t>
            </a:r>
          </a:p>
          <a:p>
            <a:r>
              <a:rPr lang="en-US" b="1" dirty="0"/>
              <a:t>Content Generation and Editing:</a:t>
            </a:r>
            <a:r>
              <a:rPr lang="en-US" dirty="0"/>
              <a:t> Agents can leverage tools like grammar checkers, text summarizers, or content safety evaluators to assist with content creation tasks.</a:t>
            </a:r>
          </a:p>
          <a:p>
            <a:endParaRPr lang="en-US" dirty="0"/>
          </a:p>
        </p:txBody>
      </p:sp>
      <p:sp>
        <p:nvSpPr>
          <p:cNvPr id="4" name="Slide Number Placeholder 3">
            <a:extLst>
              <a:ext uri="{FF2B5EF4-FFF2-40B4-BE49-F238E27FC236}">
                <a16:creationId xmlns:a16="http://schemas.microsoft.com/office/drawing/2014/main" id="{E6BD3ABA-A439-D46B-E228-DC695BB5FA06}"/>
              </a:ext>
            </a:extLst>
          </p:cNvPr>
          <p:cNvSpPr>
            <a:spLocks noGrp="1"/>
          </p:cNvSpPr>
          <p:nvPr>
            <p:ph type="sldNum" sz="quarter" idx="12"/>
          </p:nvPr>
        </p:nvSpPr>
        <p:spPr/>
        <p:txBody>
          <a:bodyPr/>
          <a:lstStyle/>
          <a:p>
            <a:fld id="{9B618960-8005-486C-9A75-10CB2AAC16F9}" type="slidenum">
              <a:rPr lang="en-US" smtClean="0"/>
              <a:t>20</a:t>
            </a:fld>
            <a:endParaRPr lang="en-US"/>
          </a:p>
        </p:txBody>
      </p:sp>
    </p:spTree>
    <p:extLst>
      <p:ext uri="{BB962C8B-B14F-4D97-AF65-F5344CB8AC3E}">
        <p14:creationId xmlns:p14="http://schemas.microsoft.com/office/powerpoint/2010/main" val="29301057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D380E-8052-5D8E-45A9-966DE4AC471B}"/>
              </a:ext>
            </a:extLst>
          </p:cNvPr>
          <p:cNvSpPr>
            <a:spLocks noGrp="1"/>
          </p:cNvSpPr>
          <p:nvPr>
            <p:ph type="title"/>
          </p:nvPr>
        </p:nvSpPr>
        <p:spPr/>
        <p:txBody>
          <a:bodyPr>
            <a:normAutofit/>
          </a:bodyPr>
          <a:lstStyle/>
          <a:p>
            <a:r>
              <a:rPr lang="en-US" b="1" dirty="0"/>
              <a:t>Building blocks to implement the tool use design pattern</a:t>
            </a:r>
            <a:endParaRPr lang="en-US" dirty="0"/>
          </a:p>
        </p:txBody>
      </p:sp>
      <p:sp>
        <p:nvSpPr>
          <p:cNvPr id="3" name="Content Placeholder 2">
            <a:extLst>
              <a:ext uri="{FF2B5EF4-FFF2-40B4-BE49-F238E27FC236}">
                <a16:creationId xmlns:a16="http://schemas.microsoft.com/office/drawing/2014/main" id="{D8179F5D-46B7-1A88-76CA-5D3794B8016F}"/>
              </a:ext>
            </a:extLst>
          </p:cNvPr>
          <p:cNvSpPr>
            <a:spLocks noGrp="1"/>
          </p:cNvSpPr>
          <p:nvPr>
            <p:ph idx="1"/>
          </p:nvPr>
        </p:nvSpPr>
        <p:spPr/>
        <p:txBody>
          <a:bodyPr>
            <a:normAutofit fontScale="77500" lnSpcReduction="20000"/>
          </a:bodyPr>
          <a:lstStyle/>
          <a:p>
            <a:r>
              <a:rPr lang="en-US" b="1" dirty="0"/>
              <a:t>Function/Tool Schemas</a:t>
            </a:r>
            <a:r>
              <a:rPr lang="en-US" dirty="0"/>
              <a:t>: Detailed definitions of available tools, including function name, purpose, required parameters, and expected outputs. These schemas enable the LLM to understand what tools are available and how to construct valid requests.</a:t>
            </a:r>
          </a:p>
          <a:p>
            <a:r>
              <a:rPr lang="en-US" b="1" dirty="0"/>
              <a:t>Function Execution Logic</a:t>
            </a:r>
            <a:r>
              <a:rPr lang="en-US" dirty="0"/>
              <a:t>: Governs how and when tools are invoked based on the user’s intent and conversation context. This may include planner modules, routing mechanisms, or conditional flows that determine tool usage dynamically.</a:t>
            </a:r>
          </a:p>
          <a:p>
            <a:r>
              <a:rPr lang="en-US" b="1" dirty="0"/>
              <a:t>Message Handling System</a:t>
            </a:r>
            <a:r>
              <a:rPr lang="en-US" dirty="0"/>
              <a:t>: Components that manage the conversational flow between user inputs, LLM responses, tool calls, and tool outputs.</a:t>
            </a:r>
          </a:p>
          <a:p>
            <a:r>
              <a:rPr lang="en-US" b="1" dirty="0"/>
              <a:t>Tool Integration Framework</a:t>
            </a:r>
            <a:r>
              <a:rPr lang="en-US" dirty="0"/>
              <a:t>: Infrastructure that connects the agent to various tools, whether they are simple functions or complex external services.</a:t>
            </a:r>
          </a:p>
          <a:p>
            <a:r>
              <a:rPr lang="en-US" b="1" dirty="0"/>
              <a:t>Error Handling &amp; Validation</a:t>
            </a:r>
            <a:r>
              <a:rPr lang="en-US" dirty="0"/>
              <a:t>: Mechanisms to handle failures in tool execution, validate parameters, and manage unexpected responses.</a:t>
            </a:r>
          </a:p>
          <a:p>
            <a:r>
              <a:rPr lang="en-US" b="1" dirty="0"/>
              <a:t>State Management</a:t>
            </a:r>
            <a:r>
              <a:rPr lang="en-US" dirty="0"/>
              <a:t>: Tracks conversation context, previous tool interactions, and persistent data to ensure consistency across multi-turn interactions.</a:t>
            </a:r>
          </a:p>
          <a:p>
            <a:pPr marL="0" indent="0">
              <a:buNone/>
            </a:pPr>
            <a:endParaRPr lang="en-US" dirty="0"/>
          </a:p>
        </p:txBody>
      </p:sp>
      <p:sp>
        <p:nvSpPr>
          <p:cNvPr id="4" name="Slide Number Placeholder 3">
            <a:extLst>
              <a:ext uri="{FF2B5EF4-FFF2-40B4-BE49-F238E27FC236}">
                <a16:creationId xmlns:a16="http://schemas.microsoft.com/office/drawing/2014/main" id="{7E64AAFF-F6C2-4818-1EC7-659E61265464}"/>
              </a:ext>
            </a:extLst>
          </p:cNvPr>
          <p:cNvSpPr>
            <a:spLocks noGrp="1"/>
          </p:cNvSpPr>
          <p:nvPr>
            <p:ph type="sldNum" sz="quarter" idx="12"/>
          </p:nvPr>
        </p:nvSpPr>
        <p:spPr/>
        <p:txBody>
          <a:bodyPr/>
          <a:lstStyle/>
          <a:p>
            <a:fld id="{9B618960-8005-486C-9A75-10CB2AAC16F9}" type="slidenum">
              <a:rPr lang="en-US" smtClean="0"/>
              <a:t>21</a:t>
            </a:fld>
            <a:endParaRPr lang="en-US"/>
          </a:p>
        </p:txBody>
      </p:sp>
    </p:spTree>
    <p:extLst>
      <p:ext uri="{BB962C8B-B14F-4D97-AF65-F5344CB8AC3E}">
        <p14:creationId xmlns:p14="http://schemas.microsoft.com/office/powerpoint/2010/main" val="35897382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552D5-CA77-B429-9EAB-D2DB7997BC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C64762-5788-5979-130E-91590B3D4C8B}"/>
              </a:ext>
            </a:extLst>
          </p:cNvPr>
          <p:cNvSpPr>
            <a:spLocks noGrp="1"/>
          </p:cNvSpPr>
          <p:nvPr>
            <p:ph type="title"/>
          </p:nvPr>
        </p:nvSpPr>
        <p:spPr>
          <a:xfrm>
            <a:off x="838200" y="1"/>
            <a:ext cx="10515600" cy="849086"/>
          </a:xfrm>
        </p:spPr>
        <p:txBody>
          <a:bodyPr/>
          <a:lstStyle/>
          <a:p>
            <a:r>
              <a:rPr lang="en-US" dirty="0"/>
              <a:t>LLMs vs Agentic AI</a:t>
            </a:r>
          </a:p>
        </p:txBody>
      </p:sp>
      <p:sp>
        <p:nvSpPr>
          <p:cNvPr id="4" name="Slide Number Placeholder 3">
            <a:extLst>
              <a:ext uri="{FF2B5EF4-FFF2-40B4-BE49-F238E27FC236}">
                <a16:creationId xmlns:a16="http://schemas.microsoft.com/office/drawing/2014/main" id="{FDBE9BF6-9E6F-E299-2751-38F566112F07}"/>
              </a:ext>
            </a:extLst>
          </p:cNvPr>
          <p:cNvSpPr>
            <a:spLocks noGrp="1"/>
          </p:cNvSpPr>
          <p:nvPr>
            <p:ph type="sldNum" sz="quarter" idx="12"/>
          </p:nvPr>
        </p:nvSpPr>
        <p:spPr/>
        <p:txBody>
          <a:bodyPr/>
          <a:lstStyle/>
          <a:p>
            <a:fld id="{9B618960-8005-486C-9A75-10CB2AAC16F9}" type="slidenum">
              <a:rPr lang="en-US" smtClean="0"/>
              <a:t>22</a:t>
            </a:fld>
            <a:endParaRPr lang="en-US"/>
          </a:p>
        </p:txBody>
      </p:sp>
      <p:graphicFrame>
        <p:nvGraphicFramePr>
          <p:cNvPr id="5" name="Table 4">
            <a:extLst>
              <a:ext uri="{FF2B5EF4-FFF2-40B4-BE49-F238E27FC236}">
                <a16:creationId xmlns:a16="http://schemas.microsoft.com/office/drawing/2014/main" id="{8595404C-384C-5389-CB81-6007F9A39897}"/>
              </a:ext>
            </a:extLst>
          </p:cNvPr>
          <p:cNvGraphicFramePr>
            <a:graphicFrameLocks noGrp="1"/>
          </p:cNvGraphicFramePr>
          <p:nvPr>
            <p:extLst>
              <p:ext uri="{D42A27DB-BD31-4B8C-83A1-F6EECF244321}">
                <p14:modId xmlns:p14="http://schemas.microsoft.com/office/powerpoint/2010/main" val="2031767127"/>
              </p:ext>
            </p:extLst>
          </p:nvPr>
        </p:nvGraphicFramePr>
        <p:xfrm>
          <a:off x="158620" y="849088"/>
          <a:ext cx="11877871" cy="5904311"/>
        </p:xfrm>
        <a:graphic>
          <a:graphicData uri="http://schemas.openxmlformats.org/drawingml/2006/table">
            <a:tbl>
              <a:tblPr/>
              <a:tblGrid>
                <a:gridCol w="1215627">
                  <a:extLst>
                    <a:ext uri="{9D8B030D-6E8A-4147-A177-3AD203B41FA5}">
                      <a16:colId xmlns:a16="http://schemas.microsoft.com/office/drawing/2014/main" val="3191998474"/>
                    </a:ext>
                  </a:extLst>
                </a:gridCol>
                <a:gridCol w="4908900">
                  <a:extLst>
                    <a:ext uri="{9D8B030D-6E8A-4147-A177-3AD203B41FA5}">
                      <a16:colId xmlns:a16="http://schemas.microsoft.com/office/drawing/2014/main" val="3190361907"/>
                    </a:ext>
                  </a:extLst>
                </a:gridCol>
                <a:gridCol w="5753344">
                  <a:extLst>
                    <a:ext uri="{9D8B030D-6E8A-4147-A177-3AD203B41FA5}">
                      <a16:colId xmlns:a16="http://schemas.microsoft.com/office/drawing/2014/main" val="2633637240"/>
                    </a:ext>
                  </a:extLst>
                </a:gridCol>
              </a:tblGrid>
              <a:tr h="337551">
                <a:tc>
                  <a:txBody>
                    <a:bodyPr/>
                    <a:lstStyle/>
                    <a:p>
                      <a:pPr>
                        <a:buNone/>
                      </a:pPr>
                      <a:r>
                        <a:rPr lang="en-US" sz="1800" b="1"/>
                        <a:t>Feature</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1" dirty="0"/>
                        <a:t>LLMs (Large Language Models)</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1" dirty="0"/>
                        <a:t>Agentic AI</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77693310"/>
                  </a:ext>
                </a:extLst>
              </a:tr>
              <a:tr h="758327">
                <a:tc>
                  <a:txBody>
                    <a:bodyPr/>
                    <a:lstStyle/>
                    <a:p>
                      <a:pPr>
                        <a:buNone/>
                      </a:pPr>
                      <a:r>
                        <a:rPr lang="en-US" sz="1800" b="1"/>
                        <a:t>Definition</a:t>
                      </a:r>
                      <a:endParaRPr lang="en-US" sz="1800"/>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AI models trained to generate or understand text based on patterns in data</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AI systems that can plan, make decisions, and act autonomously to achieve goals</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0734232"/>
                  </a:ext>
                </a:extLst>
              </a:tr>
              <a:tr h="758327">
                <a:tc>
                  <a:txBody>
                    <a:bodyPr/>
                    <a:lstStyle/>
                    <a:p>
                      <a:pPr>
                        <a:buNone/>
                      </a:pPr>
                      <a:r>
                        <a:rPr lang="en-US" sz="1800" b="1" dirty="0"/>
                        <a:t>Main Function</a:t>
                      </a:r>
                      <a:endParaRPr lang="en-US" sz="1800" dirty="0"/>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t>Generate text, answer questions, summarize, translate</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t>Perform tasks, make sequential decisions, interact with environments autonomously</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32101062"/>
                  </a:ext>
                </a:extLst>
              </a:tr>
              <a:tr h="530530">
                <a:tc>
                  <a:txBody>
                    <a:bodyPr/>
                    <a:lstStyle/>
                    <a:p>
                      <a:pPr>
                        <a:buNone/>
                      </a:pPr>
                      <a:r>
                        <a:rPr lang="en-US" sz="1800" b="1"/>
                        <a:t>Autonomy</a:t>
                      </a:r>
                      <a:endParaRPr lang="en-US" sz="1800"/>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t>Passive; responds to prompts</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Active; can take initiative and execute actions</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0124303"/>
                  </a:ext>
                </a:extLst>
              </a:tr>
              <a:tr h="606335">
                <a:tc>
                  <a:txBody>
                    <a:bodyPr/>
                    <a:lstStyle/>
                    <a:p>
                      <a:pPr>
                        <a:buNone/>
                      </a:pPr>
                      <a:r>
                        <a:rPr lang="en-US" sz="1800" b="1" dirty="0"/>
                        <a:t>Memory / Context</a:t>
                      </a:r>
                      <a:endParaRPr lang="en-US" sz="1800" dirty="0"/>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t>Usually limited to the conversation or prompt</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t>Often maintains state, long-term memory, or planning context</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9276123"/>
                  </a:ext>
                </a:extLst>
              </a:tr>
              <a:tr h="606335">
                <a:tc>
                  <a:txBody>
                    <a:bodyPr/>
                    <a:lstStyle/>
                    <a:p>
                      <a:pPr>
                        <a:buNone/>
                      </a:pPr>
                      <a:r>
                        <a:rPr lang="en-US" sz="1800" b="1"/>
                        <a:t>Decision Making</a:t>
                      </a:r>
                      <a:endParaRPr lang="en-US" sz="1800"/>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t>Based on probability of next word</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t>Based on goals, planning, and feedback from environment</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6623154"/>
                  </a:ext>
                </a:extLst>
              </a:tr>
              <a:tr h="758327">
                <a:tc>
                  <a:txBody>
                    <a:bodyPr/>
                    <a:lstStyle/>
                    <a:p>
                      <a:pPr>
                        <a:buNone/>
                      </a:pPr>
                      <a:r>
                        <a:rPr lang="en-US" sz="1800" b="1"/>
                        <a:t>Use Cases</a:t>
                      </a:r>
                      <a:endParaRPr lang="en-US" sz="1800"/>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t>Text generation, coding help, Q&amp;A, summarization</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t>Task automation, research assistants, autonomous agents, multi-step workflows</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61204443"/>
                  </a:ext>
                </a:extLst>
              </a:tr>
              <a:tr h="758327">
                <a:tc>
                  <a:txBody>
                    <a:bodyPr/>
                    <a:lstStyle/>
                    <a:p>
                      <a:pPr>
                        <a:buNone/>
                      </a:pPr>
                      <a:r>
                        <a:rPr lang="en-US" sz="1800" b="1" dirty="0"/>
                        <a:t>Planning </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t>No inherent planning	</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t>Uses planning and decision-making loops</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0478575"/>
                  </a:ext>
                </a:extLst>
              </a:tr>
              <a:tr h="758327">
                <a:tc>
                  <a:txBody>
                    <a:bodyPr/>
                    <a:lstStyle/>
                    <a:p>
                      <a:pPr>
                        <a:buNone/>
                      </a:pPr>
                      <a:r>
                        <a:rPr lang="en-US" sz="1800" b="1" dirty="0"/>
                        <a:t>Tool Use	</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t>Only if explicitly integrated	</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t>Can autonomously select and use tools (e.g., search, code, APIs)</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96183903"/>
                  </a:ext>
                </a:extLst>
              </a:tr>
            </a:tbl>
          </a:graphicData>
        </a:graphic>
      </p:graphicFrame>
    </p:spTree>
    <p:extLst>
      <p:ext uri="{BB962C8B-B14F-4D97-AF65-F5344CB8AC3E}">
        <p14:creationId xmlns:p14="http://schemas.microsoft.com/office/powerpoint/2010/main" val="2937087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3F34F-40FC-0DD4-E91C-CD5A85B18B36}"/>
              </a:ext>
            </a:extLst>
          </p:cNvPr>
          <p:cNvSpPr>
            <a:spLocks noGrp="1"/>
          </p:cNvSpPr>
          <p:nvPr>
            <p:ph type="title"/>
          </p:nvPr>
        </p:nvSpPr>
        <p:spPr/>
        <p:txBody>
          <a:bodyPr/>
          <a:lstStyle/>
          <a:p>
            <a:r>
              <a:rPr lang="en-US" dirty="0"/>
              <a:t>Simple Agent with calc and URL</a:t>
            </a:r>
          </a:p>
        </p:txBody>
      </p:sp>
      <p:sp>
        <p:nvSpPr>
          <p:cNvPr id="4" name="Slide Number Placeholder 3">
            <a:extLst>
              <a:ext uri="{FF2B5EF4-FFF2-40B4-BE49-F238E27FC236}">
                <a16:creationId xmlns:a16="http://schemas.microsoft.com/office/drawing/2014/main" id="{B4C1AD1C-A7DF-527A-06AC-11C2E376B710}"/>
              </a:ext>
            </a:extLst>
          </p:cNvPr>
          <p:cNvSpPr>
            <a:spLocks noGrp="1"/>
          </p:cNvSpPr>
          <p:nvPr>
            <p:ph type="sldNum" sz="quarter" idx="12"/>
          </p:nvPr>
        </p:nvSpPr>
        <p:spPr/>
        <p:txBody>
          <a:bodyPr/>
          <a:lstStyle/>
          <a:p>
            <a:fld id="{9B618960-8005-486C-9A75-10CB2AAC16F9}" type="slidenum">
              <a:rPr lang="en-US" smtClean="0"/>
              <a:t>23</a:t>
            </a:fld>
            <a:endParaRPr lang="en-US"/>
          </a:p>
        </p:txBody>
      </p:sp>
      <p:pic>
        <p:nvPicPr>
          <p:cNvPr id="6" name="Picture 5">
            <a:extLst>
              <a:ext uri="{FF2B5EF4-FFF2-40B4-BE49-F238E27FC236}">
                <a16:creationId xmlns:a16="http://schemas.microsoft.com/office/drawing/2014/main" id="{F4FD3157-668E-DAB2-E6A9-4E6FC9F04F42}"/>
              </a:ext>
            </a:extLst>
          </p:cNvPr>
          <p:cNvPicPr>
            <a:picLocks noChangeAspect="1"/>
          </p:cNvPicPr>
          <p:nvPr/>
        </p:nvPicPr>
        <p:blipFill>
          <a:blip r:embed="rId2"/>
          <a:stretch>
            <a:fillRect/>
          </a:stretch>
        </p:blipFill>
        <p:spPr>
          <a:xfrm>
            <a:off x="491038" y="1668330"/>
            <a:ext cx="10417443" cy="5189670"/>
          </a:xfrm>
          <a:prstGeom prst="rect">
            <a:avLst/>
          </a:prstGeom>
        </p:spPr>
      </p:pic>
    </p:spTree>
    <p:extLst>
      <p:ext uri="{BB962C8B-B14F-4D97-AF65-F5344CB8AC3E}">
        <p14:creationId xmlns:p14="http://schemas.microsoft.com/office/powerpoint/2010/main" val="33120136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B5BA3-567E-FC9C-73E7-0C58CB6FC72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3C940B9-8F15-07AC-404B-E1CA55E49052}"/>
              </a:ext>
            </a:extLst>
          </p:cNvPr>
          <p:cNvSpPr>
            <a:spLocks noGrp="1"/>
          </p:cNvSpPr>
          <p:nvPr>
            <p:ph type="sldNum" sz="quarter" idx="12"/>
          </p:nvPr>
        </p:nvSpPr>
        <p:spPr/>
        <p:txBody>
          <a:bodyPr/>
          <a:lstStyle/>
          <a:p>
            <a:fld id="{9B618960-8005-486C-9A75-10CB2AAC16F9}" type="slidenum">
              <a:rPr lang="en-US" smtClean="0"/>
              <a:t>24</a:t>
            </a:fld>
            <a:endParaRPr lang="en-US"/>
          </a:p>
        </p:txBody>
      </p:sp>
      <p:pic>
        <p:nvPicPr>
          <p:cNvPr id="6" name="Picture 5">
            <a:extLst>
              <a:ext uri="{FF2B5EF4-FFF2-40B4-BE49-F238E27FC236}">
                <a16:creationId xmlns:a16="http://schemas.microsoft.com/office/drawing/2014/main" id="{D6589DD5-61BF-3823-1822-4F4654F3D4A8}"/>
              </a:ext>
            </a:extLst>
          </p:cNvPr>
          <p:cNvPicPr>
            <a:picLocks noChangeAspect="1"/>
          </p:cNvPicPr>
          <p:nvPr/>
        </p:nvPicPr>
        <p:blipFill>
          <a:blip r:embed="rId2"/>
          <a:stretch>
            <a:fillRect/>
          </a:stretch>
        </p:blipFill>
        <p:spPr>
          <a:xfrm>
            <a:off x="2266618" y="167357"/>
            <a:ext cx="7658764" cy="6523285"/>
          </a:xfrm>
          <a:prstGeom prst="rect">
            <a:avLst/>
          </a:prstGeom>
        </p:spPr>
      </p:pic>
    </p:spTree>
    <p:extLst>
      <p:ext uri="{BB962C8B-B14F-4D97-AF65-F5344CB8AC3E}">
        <p14:creationId xmlns:p14="http://schemas.microsoft.com/office/powerpoint/2010/main" val="35003352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Q&amp;A</a:t>
            </a:r>
          </a:p>
        </p:txBody>
      </p:sp>
      <p:pic>
        <p:nvPicPr>
          <p:cNvPr id="120" name="Picture 119"/>
          <p:cNvPicPr/>
          <p:nvPr/>
        </p:nvPicPr>
        <p:blipFill>
          <a:blip r:embed="rId2"/>
          <a:stretch>
            <a:fillRect/>
          </a:stretch>
        </p:blipFill>
        <p:spPr>
          <a:xfrm>
            <a:off x="3786505" y="741045"/>
            <a:ext cx="5170170" cy="2580005"/>
          </a:xfrm>
          <a:prstGeom prst="rect">
            <a:avLst/>
          </a:prstGeom>
          <a:noFill/>
          <a:ln w="9525">
            <a:noFill/>
          </a:ln>
        </p:spPr>
      </p:pic>
      <p:pic>
        <p:nvPicPr>
          <p:cNvPr id="121" name="Picture 120"/>
          <p:cNvPicPr/>
          <p:nvPr/>
        </p:nvPicPr>
        <p:blipFill>
          <a:blip r:embed="rId3"/>
          <a:stretch>
            <a:fillRect/>
          </a:stretch>
        </p:blipFill>
        <p:spPr>
          <a:xfrm>
            <a:off x="2470150" y="3375660"/>
            <a:ext cx="7802880" cy="2926080"/>
          </a:xfrm>
          <a:prstGeom prst="rect">
            <a:avLst/>
          </a:prstGeom>
          <a:noFill/>
          <a:ln w="9525">
            <a:noFill/>
          </a:ln>
        </p:spPr>
      </p:pic>
      <p:sp>
        <p:nvSpPr>
          <p:cNvPr id="3" name="Slide Number Placeholder 2"/>
          <p:cNvSpPr>
            <a:spLocks noGrp="1"/>
          </p:cNvSpPr>
          <p:nvPr>
            <p:ph type="sldNum" sz="quarter" idx="12"/>
          </p:nvPr>
        </p:nvSpPr>
        <p:spPr/>
        <p:txBody>
          <a:bodyPr/>
          <a:lstStyle/>
          <a:p>
            <a:fld id="{9B618960-8005-486C-9A75-10CB2AAC16F9}" type="slidenum">
              <a:rPr lang="en-US" smtClean="0"/>
              <a:t>25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267</TotalTime>
  <Words>1626</Words>
  <Application>Microsoft Office PowerPoint</Application>
  <PresentationFormat>Widescreen</PresentationFormat>
  <Paragraphs>234</Paragraphs>
  <Slides>25</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Calibri Light</vt:lpstr>
      <vt:lpstr>Office Theme</vt:lpstr>
      <vt:lpstr>Agentic AI</vt:lpstr>
      <vt:lpstr>AI Agent</vt:lpstr>
      <vt:lpstr>Agents and environments </vt:lpstr>
      <vt:lpstr>Agents and environments</vt:lpstr>
      <vt:lpstr>Agents and environments</vt:lpstr>
      <vt:lpstr>Agents and environments</vt:lpstr>
      <vt:lpstr>Example: Vacuum world</vt:lpstr>
      <vt:lpstr>Vacuum cleaner agent</vt:lpstr>
      <vt:lpstr>Rationality</vt:lpstr>
      <vt:lpstr>Pac-Man as an Agent</vt:lpstr>
      <vt:lpstr>The task environment - PEAS</vt:lpstr>
      <vt:lpstr>PEAS: Automated taxi</vt:lpstr>
      <vt:lpstr>PEAS: Medical diagnosis system</vt:lpstr>
      <vt:lpstr>More Examples </vt:lpstr>
      <vt:lpstr>The different types of agents</vt:lpstr>
      <vt:lpstr>Definitions </vt:lpstr>
      <vt:lpstr>PowerPoint Presentation</vt:lpstr>
      <vt:lpstr>Tool Use Design Pattern</vt:lpstr>
      <vt:lpstr>What is the Tool Use Design Pattern?</vt:lpstr>
      <vt:lpstr>What are the use cases it can be applied to?</vt:lpstr>
      <vt:lpstr>Building blocks to implement the tool use design pattern</vt:lpstr>
      <vt:lpstr>LLMs vs Agentic AI</vt:lpstr>
      <vt:lpstr>Simple Agent with calc and URL</vt:lpstr>
      <vt:lpstr>PowerPoint Presentation</vt:lpstr>
      <vt:lpstr>Q&amp;A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Motaz K H SAAD</cp:lastModifiedBy>
  <cp:revision>318</cp:revision>
  <dcterms:created xsi:type="dcterms:W3CDTF">2024-07-10T06:40:00Z</dcterms:created>
  <dcterms:modified xsi:type="dcterms:W3CDTF">2025-11-08T13:39:38Z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87267F72C437478BB406411E457C4B18_13</vt:lpwstr>
  </property>
  <property fmtid="{D5CDD505-2E9C-101B-9397-08002B2CF9AE}" pid="3" name="KSOProductBuildVer">
    <vt:lpwstr>2057-12.2.0.19821</vt:lpwstr>
  </property>
</Properties>
</file>